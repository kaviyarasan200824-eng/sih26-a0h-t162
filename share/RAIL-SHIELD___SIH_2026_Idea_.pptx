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3FA37-00F2-4536-B992-47392E5E29AE}" v="348" dt="2026-08-28T10:59:03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6D486F-FDD2-41E7-B903-D8120EF43314}" type="datetimeFigureOut"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D884C-AE51-4BDC-8EF3-2A1A5F3BD63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84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b3333991507b02f102aaffc4a561507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333756" y="780898"/>
            <a:ext cx="9286646" cy="19202"/>
          </a:xfrm>
          <a:prstGeom prst="rect">
            <a:avLst/>
          </a:prstGeom>
        </p:spPr>
      </p:pic>
      <p:pic>
        <p:nvPicPr>
          <p:cNvPr id="3" name="Image 1" descr="gen-dedup-cb803d1d6d3b8f7b20ee1ab722ee9db4.png"/>
          <p:cNvPicPr>
            <a:picLocks noChangeAspect="1"/>
          </p:cNvPicPr>
          <p:nvPr/>
        </p:nvPicPr>
        <p:blipFill>
          <a:blip r:embed="rId4"/>
          <a:srcRect l="-87" r="-87"/>
          <a:stretch/>
        </p:blipFill>
        <p:spPr>
          <a:xfrm>
            <a:off x="333756" y="2533802"/>
            <a:ext cx="1047902" cy="4754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524598" y="1429207"/>
            <a:ext cx="4334256" cy="4724705"/>
          </a:xfrm>
          <a:prstGeom prst="rect">
            <a:avLst/>
          </a:prstGeom>
          <a:solidFill>
            <a:srgbClr val="F4F8FC"/>
          </a:solidFill>
          <a:ln w="12700">
            <a:solidFill>
              <a:srgbClr val="C9D9E7"/>
            </a:solidFill>
            <a:prstDash val="solid"/>
          </a:ln>
        </p:spPr>
      </p:sp>
      <p:pic>
        <p:nvPicPr>
          <p:cNvPr id="5" name="Image 2" descr="gen-dedup-c252ea3262165357fd1471d19ffde9a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7772400" y="4362602"/>
            <a:ext cx="3838651" cy="9144"/>
          </a:xfrm>
          <a:prstGeom prst="rect">
            <a:avLst/>
          </a:prstGeom>
        </p:spPr>
      </p:pic>
      <p:pic>
        <p:nvPicPr>
          <p:cNvPr id="6" name="Image 3" descr="gen-dedup-c906331ab824940f8865b51e69d310f9.png"/>
          <p:cNvPicPr>
            <a:picLocks noChangeAspect="1"/>
          </p:cNvPicPr>
          <p:nvPr/>
        </p:nvPicPr>
        <p:blipFill>
          <a:blip r:embed="rId6"/>
          <a:srcRect t="-58" b="-58"/>
          <a:stretch/>
        </p:blipFill>
        <p:spPr>
          <a:xfrm>
            <a:off x="0" y="6724498"/>
            <a:ext cx="12191695" cy="133502"/>
          </a:xfrm>
          <a:prstGeom prst="rect">
            <a:avLst/>
          </a:prstGeom>
        </p:spPr>
      </p:pic>
      <p:pic>
        <p:nvPicPr>
          <p:cNvPr id="7" name="Image 4" descr="gen-dedup-b62470bf72d675f4ba639c46cd01196d.png"/>
          <p:cNvPicPr>
            <a:picLocks noChangeAspect="1"/>
          </p:cNvPicPr>
          <p:nvPr/>
        </p:nvPicPr>
        <p:blipFill>
          <a:blip r:embed="rId7"/>
          <a:srcRect t="-252" b="-252"/>
          <a:stretch/>
        </p:blipFill>
        <p:spPr>
          <a:xfrm>
            <a:off x="9782251" y="0"/>
            <a:ext cx="2247595" cy="1067105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90195" y="133502"/>
            <a:ext cx="9430207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300" b="1" kern="0" spc="38" dirty="0">
                <a:solidFill>
                  <a:srgbClr val="1F497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SMART INDIA HACKATHON 2026</a:t>
            </a:r>
            <a:endParaRPr lang="en-US" sz="3300" dirty="0"/>
          </a:p>
        </p:txBody>
      </p:sp>
      <p:sp>
        <p:nvSpPr>
          <p:cNvPr id="9" name="Text 2"/>
          <p:cNvSpPr txBox="1"/>
          <p:nvPr/>
        </p:nvSpPr>
        <p:spPr>
          <a:xfrm>
            <a:off x="333756" y="990295"/>
            <a:ext cx="68580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950" b="1" kern="0" spc="225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RAIL-SHIELD</a:t>
            </a:r>
            <a:endParaRPr lang="en-US" sz="4950" dirty="0"/>
          </a:p>
        </p:txBody>
      </p:sp>
      <p:sp>
        <p:nvSpPr>
          <p:cNvPr id="10" name="Text 3"/>
          <p:cNvSpPr txBox="1"/>
          <p:nvPr/>
        </p:nvSpPr>
        <p:spPr>
          <a:xfrm>
            <a:off x="333756" y="1752905"/>
            <a:ext cx="6667805" cy="81930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AI-enabled mobile multi-sensor threat-detection &amp; inspection platform for real-time screening of narcotics and explosive signatures across Indian Railways</a:t>
            </a:r>
            <a:endParaRPr lang="en-US" sz="1575" dirty="0"/>
          </a:p>
        </p:txBody>
      </p:sp>
      <p:sp>
        <p:nvSpPr>
          <p:cNvPr id="11" name="Text 4"/>
          <p:cNvSpPr txBox="1"/>
          <p:nvPr/>
        </p:nvSpPr>
        <p:spPr>
          <a:xfrm>
            <a:off x="333756" y="2686507"/>
            <a:ext cx="6906463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“Detect Before Danger. Protect Every Journey.”</a:t>
            </a:r>
            <a:endParaRPr lang="en-US" sz="1875" dirty="0"/>
          </a:p>
        </p:txBody>
      </p:sp>
      <p:sp>
        <p:nvSpPr>
          <p:cNvPr id="12" name="Text 5"/>
          <p:cNvSpPr txBox="1"/>
          <p:nvPr/>
        </p:nvSpPr>
        <p:spPr>
          <a:xfrm>
            <a:off x="333756" y="3353105"/>
            <a:ext cx="20199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1275" dirty="0"/>
          </a:p>
        </p:txBody>
      </p:sp>
      <p:sp>
        <p:nvSpPr>
          <p:cNvPr id="13" name="Text 6"/>
          <p:cNvSpPr txBox="1"/>
          <p:nvPr/>
        </p:nvSpPr>
        <p:spPr>
          <a:xfrm>
            <a:off x="2467051" y="3353105"/>
            <a:ext cx="46296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26026</a:t>
            </a:r>
            <a:endParaRPr lang="en-US" sz="1275" dirty="0"/>
          </a:p>
        </p:txBody>
      </p:sp>
      <p:sp>
        <p:nvSpPr>
          <p:cNvPr id="14" name="Text 7"/>
          <p:cNvSpPr txBox="1"/>
          <p:nvPr/>
        </p:nvSpPr>
        <p:spPr>
          <a:xfrm>
            <a:off x="333756" y="3684118"/>
            <a:ext cx="20199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275" dirty="0"/>
          </a:p>
        </p:txBody>
      </p:sp>
      <p:sp>
        <p:nvSpPr>
          <p:cNvPr id="15" name="Text 8"/>
          <p:cNvSpPr txBox="1"/>
          <p:nvPr/>
        </p:nvSpPr>
        <p:spPr>
          <a:xfrm>
            <a:off x="2467051" y="3684118"/>
            <a:ext cx="46296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of Mobile (Quadruped)/Handheld Device/System for Real-Time Detection of Narcotics and Explosives across Indian Railways</a:t>
            </a:r>
            <a:endParaRPr lang="en-US" sz="1275" dirty="0"/>
          </a:p>
        </p:txBody>
      </p:sp>
      <p:sp>
        <p:nvSpPr>
          <p:cNvPr id="16" name="Text 9"/>
          <p:cNvSpPr txBox="1"/>
          <p:nvPr/>
        </p:nvSpPr>
        <p:spPr>
          <a:xfrm>
            <a:off x="333756" y="4468673"/>
            <a:ext cx="20199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1275" dirty="0"/>
          </a:p>
        </p:txBody>
      </p:sp>
      <p:sp>
        <p:nvSpPr>
          <p:cNvPr id="17" name="Text 10"/>
          <p:cNvSpPr txBox="1"/>
          <p:nvPr/>
        </p:nvSpPr>
        <p:spPr>
          <a:xfrm>
            <a:off x="2467051" y="4468673"/>
            <a:ext cx="46296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&amp; Cybersecurity</a:t>
            </a:r>
            <a:endParaRPr lang="en-US" sz="1275" dirty="0"/>
          </a:p>
        </p:txBody>
      </p:sp>
      <p:sp>
        <p:nvSpPr>
          <p:cNvPr id="18" name="Text 11"/>
          <p:cNvSpPr txBox="1"/>
          <p:nvPr/>
        </p:nvSpPr>
        <p:spPr>
          <a:xfrm>
            <a:off x="333756" y="4800600"/>
            <a:ext cx="20199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</a:t>
            </a:r>
            <a:endParaRPr lang="en-US" sz="1275" dirty="0"/>
          </a:p>
        </p:txBody>
      </p:sp>
      <p:sp>
        <p:nvSpPr>
          <p:cNvPr id="19" name="Text 12"/>
          <p:cNvSpPr txBox="1"/>
          <p:nvPr/>
        </p:nvSpPr>
        <p:spPr>
          <a:xfrm>
            <a:off x="2467051" y="4800600"/>
            <a:ext cx="46296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275" dirty="0"/>
          </a:p>
        </p:txBody>
      </p:sp>
      <p:sp>
        <p:nvSpPr>
          <p:cNvPr id="20" name="Text 13"/>
          <p:cNvSpPr txBox="1"/>
          <p:nvPr/>
        </p:nvSpPr>
        <p:spPr>
          <a:xfrm>
            <a:off x="333756" y="5131613"/>
            <a:ext cx="20199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</a:t>
            </a:r>
            <a:endParaRPr lang="en-US" sz="1275" dirty="0"/>
          </a:p>
        </p:txBody>
      </p:sp>
      <p:sp>
        <p:nvSpPr>
          <p:cNvPr id="21" name="Text 14"/>
          <p:cNvSpPr txBox="1"/>
          <p:nvPr/>
        </p:nvSpPr>
        <p:spPr>
          <a:xfrm>
            <a:off x="2467051" y="5131613"/>
            <a:ext cx="46296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Railways</a:t>
            </a:r>
            <a:endParaRPr lang="en-US" sz="1275" dirty="0"/>
          </a:p>
        </p:txBody>
      </p:sp>
      <p:sp>
        <p:nvSpPr>
          <p:cNvPr id="22" name="Text 15"/>
          <p:cNvSpPr txBox="1"/>
          <p:nvPr/>
        </p:nvSpPr>
        <p:spPr>
          <a:xfrm>
            <a:off x="333756" y="5463540"/>
            <a:ext cx="20199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275" dirty="0"/>
          </a:p>
        </p:txBody>
      </p:sp>
      <p:sp>
        <p:nvSpPr>
          <p:cNvPr id="24" name="Text 17"/>
          <p:cNvSpPr txBox="1"/>
          <p:nvPr/>
        </p:nvSpPr>
        <p:spPr>
          <a:xfrm>
            <a:off x="333756" y="5794553"/>
            <a:ext cx="20199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275" dirty="0"/>
          </a:p>
        </p:txBody>
      </p:sp>
      <p:sp>
        <p:nvSpPr>
          <p:cNvPr id="25" name="Text 18"/>
          <p:cNvSpPr txBox="1"/>
          <p:nvPr/>
        </p:nvSpPr>
        <p:spPr>
          <a:xfrm>
            <a:off x="2467051" y="5794553"/>
            <a:ext cx="46296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Arial"/>
                <a:cs typeface="Arial"/>
              </a:rPr>
              <a:t>BASILEUS</a:t>
            </a:r>
            <a:endParaRPr lang="en-US" sz="1250" dirty="0">
              <a:solidFill>
                <a:srgbClr val="111111"/>
              </a:solidFill>
              <a:latin typeface="Arial"/>
              <a:cs typeface="Arial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7772400" y="1638605"/>
            <a:ext cx="38386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38" b="1" kern="0" spc="105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PIPELINE</a:t>
            </a:r>
            <a:endParaRPr lang="en-US" sz="938" dirty="0"/>
          </a:p>
        </p:txBody>
      </p:sp>
      <p:sp>
        <p:nvSpPr>
          <p:cNvPr id="27" name="Shape 20"/>
          <p:cNvSpPr/>
          <p:nvPr/>
        </p:nvSpPr>
        <p:spPr>
          <a:xfrm>
            <a:off x="7772400" y="1867205"/>
            <a:ext cx="383865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895844" y="1943100"/>
            <a:ext cx="35917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088" dirty="0"/>
          </a:p>
        </p:txBody>
      </p:sp>
      <p:sp>
        <p:nvSpPr>
          <p:cNvPr id="29" name="Text 22"/>
          <p:cNvSpPr txBox="1"/>
          <p:nvPr/>
        </p:nvSpPr>
        <p:spPr>
          <a:xfrm>
            <a:off x="7895844" y="2108606"/>
            <a:ext cx="359176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F5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multi-sensor array — chemical, optical, thermal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0" y="2370125"/>
            <a:ext cx="383865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75" dirty="0"/>
          </a:p>
        </p:txBody>
      </p:sp>
      <p:sp>
        <p:nvSpPr>
          <p:cNvPr id="31" name="Shape 24"/>
          <p:cNvSpPr/>
          <p:nvPr/>
        </p:nvSpPr>
        <p:spPr>
          <a:xfrm>
            <a:off x="7772400" y="2541118"/>
            <a:ext cx="383865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7895844" y="2617927"/>
            <a:ext cx="35917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088" dirty="0"/>
          </a:p>
        </p:txBody>
      </p:sp>
      <p:sp>
        <p:nvSpPr>
          <p:cNvPr id="33" name="Text 26"/>
          <p:cNvSpPr txBox="1"/>
          <p:nvPr/>
        </p:nvSpPr>
        <p:spPr>
          <a:xfrm>
            <a:off x="7895844" y="2783434"/>
            <a:ext cx="359176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F5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edge AI — sensor fusion, no cloud needed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7772400" y="3044038"/>
            <a:ext cx="383865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75" dirty="0"/>
          </a:p>
        </p:txBody>
      </p:sp>
      <p:sp>
        <p:nvSpPr>
          <p:cNvPr id="35" name="Shape 28"/>
          <p:cNvSpPr/>
          <p:nvPr/>
        </p:nvSpPr>
        <p:spPr>
          <a:xfrm>
            <a:off x="7772400" y="3215945"/>
            <a:ext cx="3838651" cy="45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895844" y="3291840"/>
            <a:ext cx="35917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088" dirty="0"/>
          </a:p>
        </p:txBody>
      </p:sp>
      <p:sp>
        <p:nvSpPr>
          <p:cNvPr id="37" name="Text 30"/>
          <p:cNvSpPr txBox="1"/>
          <p:nvPr/>
        </p:nvSpPr>
        <p:spPr>
          <a:xfrm>
            <a:off x="7895844" y="3458261"/>
            <a:ext cx="359176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6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threat level + GPS-tagged event log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7772400" y="3718865"/>
            <a:ext cx="383865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75" dirty="0"/>
          </a:p>
        </p:txBody>
      </p:sp>
      <p:sp>
        <p:nvSpPr>
          <p:cNvPr id="39" name="Shape 32"/>
          <p:cNvSpPr/>
          <p:nvPr/>
        </p:nvSpPr>
        <p:spPr>
          <a:xfrm>
            <a:off x="7772400" y="3890772"/>
            <a:ext cx="3838651" cy="457200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7895844" y="3966667"/>
            <a:ext cx="35917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RPF VERIFIES</a:t>
            </a:r>
            <a:endParaRPr lang="en-US" sz="1088" dirty="0"/>
          </a:p>
        </p:txBody>
      </p:sp>
      <p:sp>
        <p:nvSpPr>
          <p:cNvPr id="41" name="Text 34"/>
          <p:cNvSpPr txBox="1"/>
          <p:nvPr/>
        </p:nvSpPr>
        <p:spPr>
          <a:xfrm>
            <a:off x="7895844" y="4132174"/>
            <a:ext cx="395478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FE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— the device advises, personnel decide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7772400" y="4470965"/>
            <a:ext cx="3838651" cy="277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00" kern="0" spc="105">
                <a:solidFill>
                  <a:srgbClr val="1F497D"/>
                </a:solidFill>
                <a:ea typeface="+mn-lt"/>
                <a:cs typeface="+mn-lt"/>
              </a:rPr>
              <a:t>Handheld today, quadruped as future scope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43" name="Text 36"/>
          <p:cNvSpPr txBox="1"/>
          <p:nvPr/>
        </p:nvSpPr>
        <p:spPr>
          <a:xfrm>
            <a:off x="7772400" y="4767682"/>
            <a:ext cx="743407" cy="228600"/>
          </a:xfrm>
          <a:prstGeom prst="rect">
            <a:avLst/>
          </a:prstGeom>
          <a:solidFill>
            <a:srgbClr val="1F497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38100" rIns="0" bIns="38100" rtlCol="0" anchor="ctr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HANDHELD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8610905" y="4767682"/>
            <a:ext cx="3001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75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Carried by RPF for coaches, baggage, platforms and parcel screening</a:t>
            </a:r>
            <a:endParaRPr lang="en-US" sz="975" dirty="0"/>
          </a:p>
        </p:txBody>
      </p:sp>
      <p:sp>
        <p:nvSpPr>
          <p:cNvPr id="45" name="Text 38"/>
          <p:cNvSpPr txBox="1"/>
          <p:nvPr/>
        </p:nvSpPr>
        <p:spPr>
          <a:xfrm>
            <a:off x="7772400" y="5170018"/>
            <a:ext cx="743407" cy="228600"/>
          </a:xfrm>
          <a:prstGeom prst="rect">
            <a:avLst/>
          </a:prstGeom>
          <a:solidFill>
            <a:srgbClr val="0070C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38100" rIns="0" bIns="38100" rtlCol="0" anchor="ctr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QUADRUPED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8610905" y="5170018"/>
            <a:ext cx="3001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75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Underframe inspection, yard &amp; tunnel patrol, hazardous-area entry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756" y="1580998"/>
            <a:ext cx="5619902" cy="3047695"/>
          </a:xfrm>
          <a:prstGeom prst="rect">
            <a:avLst/>
          </a:prstGeom>
          <a:solidFill>
            <a:srgbClr val="FBF6F5"/>
          </a:solidFill>
          <a:ln/>
        </p:spPr>
      </p:sp>
      <p:sp>
        <p:nvSpPr>
          <p:cNvPr id="3" name="Shape 1"/>
          <p:cNvSpPr/>
          <p:nvPr/>
        </p:nvSpPr>
        <p:spPr>
          <a:xfrm>
            <a:off x="333756" y="1580998"/>
            <a:ext cx="47549" cy="304769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86500" y="1580998"/>
            <a:ext cx="5619902" cy="3047695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5" name="Shape 3"/>
          <p:cNvSpPr/>
          <p:nvPr/>
        </p:nvSpPr>
        <p:spPr>
          <a:xfrm>
            <a:off x="6286500" y="1580998"/>
            <a:ext cx="47549" cy="3047695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" y="4762195"/>
            <a:ext cx="11525098" cy="590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5605" y="4990795"/>
            <a:ext cx="11247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38" b="1" kern="0" spc="105" dirty="0">
                <a:solidFill>
                  <a:srgbClr val="8A9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</a:t>
            </a:r>
            <a:endParaRPr lang="en-US" sz="938" dirty="0"/>
          </a:p>
        </p:txBody>
      </p:sp>
      <p:sp>
        <p:nvSpPr>
          <p:cNvPr id="8" name="Text 6"/>
          <p:cNvSpPr txBox="1"/>
          <p:nvPr/>
        </p:nvSpPr>
        <p:spPr>
          <a:xfrm>
            <a:off x="5221224" y="4895698"/>
            <a:ext cx="943661" cy="324612"/>
          </a:xfrm>
          <a:prstGeom prst="rect">
            <a:avLst/>
          </a:prstGeom>
          <a:solidFill>
            <a:srgbClr val="1F497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275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275" dirty="0"/>
          </a:p>
        </p:txBody>
      </p:sp>
      <p:sp>
        <p:nvSpPr>
          <p:cNvPr id="9" name="Text 7"/>
          <p:cNvSpPr txBox="1"/>
          <p:nvPr/>
        </p:nvSpPr>
        <p:spPr>
          <a:xfrm>
            <a:off x="6237122" y="4957877"/>
            <a:ext cx="1719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84925" y="4895698"/>
            <a:ext cx="1172261" cy="324612"/>
          </a:xfrm>
          <a:prstGeom prst="rect">
            <a:avLst/>
          </a:prstGeom>
          <a:solidFill>
            <a:srgbClr val="1F497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275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75" dirty="0"/>
          </a:p>
        </p:txBody>
      </p:sp>
      <p:sp>
        <p:nvSpPr>
          <p:cNvPr id="11" name="Text 9"/>
          <p:cNvSpPr txBox="1"/>
          <p:nvPr/>
        </p:nvSpPr>
        <p:spPr>
          <a:xfrm>
            <a:off x="7729423" y="4957877"/>
            <a:ext cx="1719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977226" y="4895698"/>
            <a:ext cx="1162202" cy="324612"/>
          </a:xfrm>
          <a:prstGeom prst="rect">
            <a:avLst/>
          </a:prstGeom>
          <a:solidFill>
            <a:srgbClr val="1F497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275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275" dirty="0"/>
          </a:p>
        </p:txBody>
      </p:sp>
      <p:sp>
        <p:nvSpPr>
          <p:cNvPr id="13" name="Text 11"/>
          <p:cNvSpPr txBox="1"/>
          <p:nvPr/>
        </p:nvSpPr>
        <p:spPr>
          <a:xfrm>
            <a:off x="9209837" y="4957877"/>
            <a:ext cx="1719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457639" y="4895698"/>
            <a:ext cx="933602" cy="324612"/>
          </a:xfrm>
          <a:prstGeom prst="rect">
            <a:avLst/>
          </a:prstGeom>
          <a:solidFill>
            <a:srgbClr val="C000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275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275" dirty="0"/>
          </a:p>
        </p:txBody>
      </p:sp>
      <p:sp>
        <p:nvSpPr>
          <p:cNvPr id="15" name="Text 13"/>
          <p:cNvSpPr txBox="1"/>
          <p:nvPr/>
        </p:nvSpPr>
        <p:spPr>
          <a:xfrm>
            <a:off x="10464394" y="4957877"/>
            <a:ext cx="1719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712196" y="4895698"/>
            <a:ext cx="991210" cy="324612"/>
          </a:xfrm>
          <a:prstGeom prst="rect">
            <a:avLst/>
          </a:prstGeom>
          <a:solidFill>
            <a:srgbClr val="1F6B3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275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333756" y="5486400"/>
            <a:ext cx="11525098" cy="685800"/>
          </a:xfrm>
          <a:prstGeom prst="rect">
            <a:avLst/>
          </a:prstGeom>
          <a:solidFill>
            <a:srgbClr val="1F49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353251"/>
            <a:ext cx="12191695" cy="504749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0" descr="gen-dedup-b62470bf72d675f4ba639c46cd01196d.png"/>
          <p:cNvPicPr>
            <a:picLocks noChangeAspect="1"/>
          </p:cNvPicPr>
          <p:nvPr/>
        </p:nvPicPr>
        <p:blipFill>
          <a:blip r:embed="rId3"/>
          <a:srcRect t="-252" b="-252"/>
          <a:stretch/>
        </p:blipFill>
        <p:spPr>
          <a:xfrm>
            <a:off x="9782251" y="0"/>
            <a:ext cx="2247595" cy="1067105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209398" y="190195"/>
            <a:ext cx="1410005" cy="724205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7030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09398" y="190195"/>
            <a:ext cx="1410005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63500" rIns="63500" bIns="635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>
                <a:solidFill>
                  <a:srgbClr val="3B2154"/>
                </a:solidFill>
                <a:latin typeface="Bookman Old Style"/>
                <a:cs typeface="Arial"/>
              </a:rPr>
              <a:t>BASILEUS</a:t>
            </a:r>
          </a:p>
        </p:txBody>
      </p:sp>
      <p:sp>
        <p:nvSpPr>
          <p:cNvPr id="22" name="Text 19"/>
          <p:cNvSpPr txBox="1"/>
          <p:nvPr/>
        </p:nvSpPr>
        <p:spPr>
          <a:xfrm>
            <a:off x="1762049" y="228600"/>
            <a:ext cx="78108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150" b="1" kern="0" spc="7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TITLE</a:t>
            </a:r>
            <a:endParaRPr lang="en-US" sz="3150" dirty="0"/>
          </a:p>
        </p:txBody>
      </p:sp>
      <p:sp>
        <p:nvSpPr>
          <p:cNvPr id="23" name="Text 20"/>
          <p:cNvSpPr txBox="1"/>
          <p:nvPr/>
        </p:nvSpPr>
        <p:spPr>
          <a:xfrm>
            <a:off x="333756" y="1123798"/>
            <a:ext cx="119256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RAIL-SHIELD — an intelligent multi-sensor threat-detection &amp; inspection platform</a:t>
            </a:r>
            <a:endParaRPr lang="en-US" sz="1875" dirty="0"/>
          </a:p>
        </p:txBody>
      </p:sp>
      <p:sp>
        <p:nvSpPr>
          <p:cNvPr id="24" name="Text 21"/>
          <p:cNvSpPr txBox="1"/>
          <p:nvPr/>
        </p:nvSpPr>
        <p:spPr>
          <a:xfrm>
            <a:off x="543154" y="1714500"/>
            <a:ext cx="51919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45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43154" y="2057400"/>
            <a:ext cx="519196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6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RPF must screen a vast, constantly moving surface area:</a:t>
            </a:r>
            <a:endParaRPr lang="en-US" sz="1163" dirty="0"/>
          </a:p>
        </p:txBody>
      </p:sp>
      <p:sp>
        <p:nvSpPr>
          <p:cNvPr id="26" name="Text 23"/>
          <p:cNvSpPr txBox="1"/>
          <p:nvPr/>
        </p:nvSpPr>
        <p:spPr>
          <a:xfrm>
            <a:off x="523646" y="2296973"/>
            <a:ext cx="52105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627"/>
              </a:lnSpc>
              <a:spcAft>
                <a:spcPts val="375"/>
              </a:spcAft>
              <a:buSzPct val="100000"/>
              <a:buChar char="•"/>
            </a:pPr>
            <a:r>
              <a:rPr lang="en-US" sz="116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​Train coaches, berths and concealed cavities</a:t>
            </a:r>
            <a:endParaRPr lang="en-US" sz="1163" dirty="0"/>
          </a:p>
          <a:p>
            <a:pPr marL="190500" indent="-190500" algn="l">
              <a:lnSpc>
                <a:spcPts val="1627"/>
              </a:lnSpc>
              <a:spcAft>
                <a:spcPts val="375"/>
              </a:spcAft>
              <a:buSzPct val="100000"/>
              <a:buChar char="•"/>
            </a:pPr>
            <a:r>
              <a:rPr lang="en-US" sz="116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​Unattended baggage, parcels and cargo</a:t>
            </a:r>
            <a:endParaRPr lang="en-US" sz="1163" dirty="0"/>
          </a:p>
          <a:p>
            <a:pPr marL="190500" indent="-190500" algn="l">
              <a:lnSpc>
                <a:spcPts val="1627"/>
              </a:lnSpc>
              <a:spcAft>
                <a:spcPts val="375"/>
              </a:spcAft>
              <a:buSzPct val="100000"/>
              <a:buChar char="•"/>
            </a:pPr>
            <a:r>
              <a:rPr lang="en-US" sz="116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​Platforms and station entry points</a:t>
            </a:r>
            <a:endParaRPr lang="en-US" sz="1163" dirty="0"/>
          </a:p>
          <a:p>
            <a:pPr marL="190500" indent="-190500" algn="l">
              <a:lnSpc>
                <a:spcPts val="1627"/>
              </a:lnSpc>
              <a:spcAft>
                <a:spcPts val="375"/>
              </a:spcAft>
              <a:buSzPct val="100000"/>
              <a:buChar char="•"/>
            </a:pPr>
            <a:r>
              <a:rPr lang="en-US" sz="116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​Yards, tunnels, ballast and track-side areas</a:t>
            </a:r>
            <a:endParaRPr lang="en-US" sz="1163" dirty="0"/>
          </a:p>
        </p:txBody>
      </p:sp>
      <p:sp>
        <p:nvSpPr>
          <p:cNvPr id="27" name="Shape 24"/>
          <p:cNvSpPr/>
          <p:nvPr/>
        </p:nvSpPr>
        <p:spPr>
          <a:xfrm>
            <a:off x="543154" y="3357677"/>
            <a:ext cx="5191049" cy="9144"/>
          </a:xfrm>
          <a:prstGeom prst="rect">
            <a:avLst/>
          </a:prstGeom>
          <a:solidFill>
            <a:srgbClr val="D8B9B4"/>
          </a:solidFill>
          <a:ln w="12700">
            <a:solidFill>
              <a:srgbClr val="D8B9B4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3154" y="3433572"/>
            <a:ext cx="51919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0" rIns="63500" bIns="635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16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₹300 Cr</a:t>
            </a:r>
            <a:r>
              <a:rPr lang="en-US" sz="116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narcotics recovered in </a:t>
            </a:r>
            <a:r>
              <a:rPr lang="en-US" sz="116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2,100+</a:t>
            </a:r>
            <a:r>
              <a:rPr lang="en-US" sz="116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instances (RPF, 2025); NCB estimates </a:t>
            </a:r>
            <a:r>
              <a:rPr lang="en-US" sz="116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15–20%</a:t>
            </a:r>
            <a:r>
              <a:rPr lang="en-US" sz="116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drug trafficking is routed through the rail network.</a:t>
            </a:r>
            <a:endParaRPr lang="en-US" sz="1163" dirty="0"/>
          </a:p>
        </p:txBody>
      </p:sp>
      <p:sp>
        <p:nvSpPr>
          <p:cNvPr id="29" name="Text 26"/>
          <p:cNvSpPr txBox="1"/>
          <p:nvPr/>
        </p:nvSpPr>
        <p:spPr>
          <a:xfrm>
            <a:off x="543154" y="3904488"/>
            <a:ext cx="51919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163" b="1" dirty="0">
                <a:solidFill>
                  <a:srgbClr val="7A1C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Indian Railways has no dedicated mobile or handheld system for real-time field detection.</a:t>
            </a:r>
            <a:endParaRPr lang="en-US" sz="1163" dirty="0"/>
          </a:p>
        </p:txBody>
      </p:sp>
      <p:sp>
        <p:nvSpPr>
          <p:cNvPr id="30" name="Text 27"/>
          <p:cNvSpPr txBox="1"/>
          <p:nvPr/>
        </p:nvSpPr>
        <p:spPr>
          <a:xfrm>
            <a:off x="6495898" y="1714500"/>
            <a:ext cx="51919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45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495898" y="2057400"/>
            <a:ext cx="5191963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16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RAIL-SHIELD assists RPF personnel in flagging suspicious narcotic and explosive signatures in real time — non-intrusively, on the spot, with final verification always by trained personnel.</a:t>
            </a:r>
            <a:endParaRPr lang="en-US" sz="1163" dirty="0"/>
          </a:p>
        </p:txBody>
      </p:sp>
      <p:sp>
        <p:nvSpPr>
          <p:cNvPr id="32" name="Text 29"/>
          <p:cNvSpPr txBox="1"/>
          <p:nvPr/>
        </p:nvSpPr>
        <p:spPr>
          <a:xfrm>
            <a:off x="6495898" y="2782519"/>
            <a:ext cx="5191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b="1" kern="0" spc="90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013" dirty="0"/>
          </a:p>
        </p:txBody>
      </p:sp>
      <p:sp>
        <p:nvSpPr>
          <p:cNvPr id="33" name="Text 30"/>
          <p:cNvSpPr txBox="1"/>
          <p:nvPr/>
        </p:nvSpPr>
        <p:spPr>
          <a:xfrm>
            <a:off x="6495898" y="3019349"/>
            <a:ext cx="25338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Multi-sensor sensing</a:t>
            </a:r>
            <a:endParaRPr lang="en-US" sz="1125" dirty="0"/>
          </a:p>
        </p:txBody>
      </p:sp>
      <p:sp>
        <p:nvSpPr>
          <p:cNvPr id="34" name="Text 31"/>
          <p:cNvSpPr txBox="1"/>
          <p:nvPr/>
        </p:nvSpPr>
        <p:spPr>
          <a:xfrm>
            <a:off x="9158630" y="3019349"/>
            <a:ext cx="25338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On-device edge AI</a:t>
            </a:r>
            <a:endParaRPr lang="en-US" sz="1125" dirty="0"/>
          </a:p>
        </p:txBody>
      </p:sp>
      <p:sp>
        <p:nvSpPr>
          <p:cNvPr id="35" name="Text 32"/>
          <p:cNvSpPr txBox="1"/>
          <p:nvPr/>
        </p:nvSpPr>
        <p:spPr>
          <a:xfrm>
            <a:off x="6495898" y="3267151"/>
            <a:ext cx="25338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Instant local alert</a:t>
            </a:r>
            <a:endParaRPr lang="en-US" sz="1125" dirty="0"/>
          </a:p>
        </p:txBody>
      </p:sp>
      <p:sp>
        <p:nvSpPr>
          <p:cNvPr id="36" name="Text 33"/>
          <p:cNvSpPr txBox="1"/>
          <p:nvPr/>
        </p:nvSpPr>
        <p:spPr>
          <a:xfrm>
            <a:off x="9158630" y="3267151"/>
            <a:ext cx="25338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GPS + timestamp logging</a:t>
            </a:r>
            <a:endParaRPr lang="en-US" sz="1125" dirty="0"/>
          </a:p>
        </p:txBody>
      </p:sp>
      <p:sp>
        <p:nvSpPr>
          <p:cNvPr id="37" name="Text 34"/>
          <p:cNvSpPr txBox="1"/>
          <p:nvPr/>
        </p:nvSpPr>
        <p:spPr>
          <a:xfrm>
            <a:off x="6495898" y="3514954"/>
            <a:ext cx="25338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00">
                <a:solidFill>
                  <a:srgbClr val="1A1A1A"/>
                </a:solidFill>
                <a:latin typeface="Arial"/>
                <a:ea typeface="Arial" pitchFamily="34" charset="-122"/>
                <a:cs typeface="Arial"/>
              </a:rPr>
              <a:t>▸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Compact &amp; portable</a:t>
            </a:r>
            <a:endParaRPr lang="en-US" sz="1125" dirty="0"/>
          </a:p>
        </p:txBody>
      </p:sp>
      <p:sp>
        <p:nvSpPr>
          <p:cNvPr id="38" name="Text 35"/>
          <p:cNvSpPr txBox="1"/>
          <p:nvPr/>
        </p:nvSpPr>
        <p:spPr>
          <a:xfrm>
            <a:off x="9158630" y="3514954"/>
            <a:ext cx="25338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Human-in-the-loop</a:t>
            </a:r>
            <a:endParaRPr lang="en-US" sz="1125" dirty="0"/>
          </a:p>
        </p:txBody>
      </p:sp>
      <p:sp>
        <p:nvSpPr>
          <p:cNvPr id="39" name="Shape 36"/>
          <p:cNvSpPr/>
          <p:nvPr/>
        </p:nvSpPr>
        <p:spPr>
          <a:xfrm>
            <a:off x="6495898" y="3810305"/>
            <a:ext cx="5191049" cy="9144"/>
          </a:xfrm>
          <a:prstGeom prst="rect">
            <a:avLst/>
          </a:prstGeom>
          <a:solidFill>
            <a:srgbClr val="B9CFE2"/>
          </a:solidFill>
          <a:ln w="12700">
            <a:solidFill>
              <a:srgbClr val="B9CFE2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484693" y="3906549"/>
            <a:ext cx="5371256" cy="7343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0" rIns="76200" bIns="76200" rtlCol="0" anchor="ctr"/>
          <a:lstStyle/>
          <a:p>
            <a:pPr>
              <a:lnSpc>
                <a:spcPts val="1627"/>
              </a:lnSpc>
            </a:pPr>
            <a:r>
              <a:rPr lang="en-US" sz="1150" b="1" dirty="0">
                <a:solidFill>
                  <a:srgbClr val="134A78"/>
                </a:solidFill>
                <a:latin typeface="Arial"/>
                <a:ea typeface="+mn-lt"/>
                <a:cs typeface="Arial"/>
              </a:rPr>
              <a:t>Handheld unit as the deployable V1; quadruped platform for underframe, </a:t>
            </a:r>
            <a:r>
              <a:rPr lang="en-US" sz="1150" b="1">
                <a:solidFill>
                  <a:srgbClr val="134A78"/>
                </a:solidFill>
                <a:latin typeface="Arial"/>
                <a:ea typeface="+mn-lt"/>
                <a:cs typeface="Arial"/>
              </a:rPr>
              <a:t>yard and hazardous-area duty. (I</a:t>
            </a:r>
            <a:r>
              <a:rPr lang="en-US" sz="1200">
                <a:solidFill>
                  <a:srgbClr val="134A78"/>
                </a:solidFill>
                <a:latin typeface="Calibri"/>
                <a:ea typeface="+mn-lt"/>
                <a:cs typeface="Calibri"/>
              </a:rPr>
              <a:t>t's a smartphone +microcontroller-based </a:t>
            </a:r>
            <a:r>
              <a:rPr lang="en-US" sz="1200" dirty="0">
                <a:solidFill>
                  <a:srgbClr val="134A78"/>
                </a:solidFill>
                <a:latin typeface="Calibri"/>
                <a:ea typeface="+mn-lt"/>
                <a:cs typeface="Calibri"/>
              </a:rPr>
              <a:t>sensor unit.)</a:t>
            </a:r>
            <a:endParaRPr lang="en-US" sz="1200" b="1" dirty="0">
              <a:solidFill>
                <a:srgbClr val="134A78"/>
              </a:solidFill>
              <a:latin typeface="Arial"/>
              <a:ea typeface="+mn-lt"/>
              <a:cs typeface="Arial"/>
            </a:endParaRPr>
          </a:p>
        </p:txBody>
      </p:sp>
      <p:sp>
        <p:nvSpPr>
          <p:cNvPr id="41" name="Text 38"/>
          <p:cNvSpPr txBox="1"/>
          <p:nvPr/>
        </p:nvSpPr>
        <p:spPr>
          <a:xfrm>
            <a:off x="523951" y="5639105"/>
            <a:ext cx="11144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75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“Instead of searching everywhere manually, RAIL-SHIELD helps security teams know where to look first.”</a:t>
            </a:r>
            <a:endParaRPr lang="en-US" sz="1575" dirty="0"/>
          </a:p>
        </p:txBody>
      </p:sp>
      <p:sp>
        <p:nvSpPr>
          <p:cNvPr id="43" name="Text 40"/>
          <p:cNvSpPr txBox="1"/>
          <p:nvPr/>
        </p:nvSpPr>
        <p:spPr>
          <a:xfrm>
            <a:off x="10668305" y="6495898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33756" y="1295705"/>
            <a:ext cx="4000500" cy="381305"/>
          </a:xfrm>
          <a:prstGeom prst="rect">
            <a:avLst/>
          </a:prstGeom>
          <a:solidFill>
            <a:srgbClr val="EFF3F8"/>
          </a:solidFill>
          <a:ln w="12700">
            <a:solidFill>
              <a:srgbClr val="9FB6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 OBJECT / AREA — coach, baggage, underframe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333756" y="1886407"/>
            <a:ext cx="4000500" cy="53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76756" y="1989734"/>
            <a:ext cx="1714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>
                <a:solidFill>
                  <a:srgbClr val="12385F"/>
                </a:solidFill>
                <a:latin typeface="Arial"/>
                <a:cs typeface="Arial"/>
              </a:rPr>
              <a:t>Gas/Chemical Sensor</a:t>
            </a:r>
            <a:endParaRPr lang="en-US" sz="1200" b="1" dirty="0">
              <a:solidFill>
                <a:srgbClr val="12385F"/>
              </a:solidFill>
              <a:latin typeface="Arial"/>
              <a:cs typeface="Arial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900684" y="2172614"/>
            <a:ext cx="286847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3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 / vapour · optical · thermal · imaging</a:t>
            </a:r>
            <a:endParaRPr lang="en-US" sz="938" dirty="0"/>
          </a:p>
        </p:txBody>
      </p:sp>
      <p:sp>
        <p:nvSpPr>
          <p:cNvPr id="6" name="Shape 4"/>
          <p:cNvSpPr/>
          <p:nvPr/>
        </p:nvSpPr>
        <p:spPr>
          <a:xfrm>
            <a:off x="333756" y="2628900"/>
            <a:ext cx="4000500" cy="53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89888" y="2732227"/>
            <a:ext cx="18955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>
                <a:solidFill>
                  <a:srgbClr val="12385F"/>
                </a:solidFill>
                <a:latin typeface="Arial"/>
                <a:cs typeface="Arial"/>
              </a:rPr>
              <a:t>Bluetooth/USB link to phone</a:t>
            </a:r>
            <a:endParaRPr lang="en-US" sz="1200" b="1" dirty="0">
              <a:solidFill>
                <a:srgbClr val="12385F"/>
              </a:solidFill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16559" y="2915107"/>
            <a:ext cx="303855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3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denoise · baseline correction · feature extraction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333756" y="3372307"/>
            <a:ext cx="4000500" cy="53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5314" y="3475634"/>
            <a:ext cx="284469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>
                <a:solidFill>
                  <a:srgbClr val="12385F"/>
                </a:solidFill>
                <a:latin typeface="Arial"/>
                <a:cs typeface="Arial"/>
              </a:rPr>
              <a:t>On-Phone ML classifier</a:t>
            </a:r>
            <a:endParaRPr lang="en-US" sz="1200" b="1" dirty="0">
              <a:solidFill>
                <a:srgbClr val="12385F"/>
              </a:solidFill>
              <a:latin typeface="Arial"/>
              <a:cs typeface="Arial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47318" y="3658514"/>
            <a:ext cx="277703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3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matching against on-device library</a:t>
            </a:r>
            <a:endParaRPr lang="en-US" sz="938" dirty="0"/>
          </a:p>
        </p:txBody>
      </p:sp>
      <p:sp>
        <p:nvSpPr>
          <p:cNvPr id="12" name="Shape 10"/>
          <p:cNvSpPr/>
          <p:nvPr/>
        </p:nvSpPr>
        <p:spPr>
          <a:xfrm>
            <a:off x="333756" y="4114800"/>
            <a:ext cx="4000500" cy="4956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A4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286707"/>
            <a:ext cx="10287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kern="0" spc="38" dirty="0">
                <a:solidFill>
                  <a:srgbClr val="7A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TIER</a:t>
            </a:r>
            <a:endParaRPr lang="en-US" sz="1088" dirty="0"/>
          </a:p>
        </p:txBody>
      </p:sp>
      <p:sp>
        <p:nvSpPr>
          <p:cNvPr id="14" name="Text 12"/>
          <p:cNvSpPr txBox="1"/>
          <p:nvPr/>
        </p:nvSpPr>
        <p:spPr>
          <a:xfrm>
            <a:off x="1588313" y="4248302"/>
            <a:ext cx="734263" cy="228600"/>
          </a:xfrm>
          <a:prstGeom prst="rect">
            <a:avLst/>
          </a:prstGeom>
          <a:solidFill>
            <a:srgbClr val="1F6B3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50800" rIns="101600" bIns="50800" rtlCol="0" anchor="ctr"/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938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4248302"/>
            <a:ext cx="952805" cy="228600"/>
          </a:xfrm>
          <a:prstGeom prst="rect">
            <a:avLst/>
          </a:prstGeom>
          <a:solidFill>
            <a:srgbClr val="C9A4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50800" rIns="101600" bIns="50800" rtlCol="0" anchor="ctr"/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231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</a:t>
            </a:r>
            <a:endParaRPr lang="en-US" sz="938" dirty="0"/>
          </a:p>
        </p:txBody>
      </p:sp>
      <p:sp>
        <p:nvSpPr>
          <p:cNvPr id="16" name="Text 14"/>
          <p:cNvSpPr txBox="1"/>
          <p:nvPr/>
        </p:nvSpPr>
        <p:spPr>
          <a:xfrm>
            <a:off x="3378708" y="4248302"/>
            <a:ext cx="838505" cy="228600"/>
          </a:xfrm>
          <a:prstGeom prst="rect">
            <a:avLst/>
          </a:prstGeom>
          <a:solidFill>
            <a:srgbClr val="C000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50800" rIns="101600" bIns="50800" rtlCol="0" anchor="ctr"/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</a:t>
            </a:r>
            <a:endParaRPr lang="en-US" sz="938" dirty="0"/>
          </a:p>
        </p:txBody>
      </p:sp>
      <p:sp>
        <p:nvSpPr>
          <p:cNvPr id="17" name="Shape 15"/>
          <p:cNvSpPr/>
          <p:nvPr/>
        </p:nvSpPr>
        <p:spPr>
          <a:xfrm>
            <a:off x="333756" y="4819802"/>
            <a:ext cx="1933956" cy="495605"/>
          </a:xfrm>
          <a:prstGeom prst="rect">
            <a:avLst/>
          </a:prstGeom>
          <a:solidFill>
            <a:srgbClr val="FBEF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3018" y="4921301"/>
            <a:ext cx="9336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1C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ALERT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15391" y="5081321"/>
            <a:ext cx="13716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63" dirty="0">
                <a:solidFill>
                  <a:srgbClr val="7A1C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buzzer · LED · vibration</a:t>
            </a:r>
            <a:endParaRPr lang="en-US" sz="863" dirty="0"/>
          </a:p>
        </p:txBody>
      </p:sp>
      <p:sp>
        <p:nvSpPr>
          <p:cNvPr id="20" name="Shape 18"/>
          <p:cNvSpPr/>
          <p:nvPr/>
        </p:nvSpPr>
        <p:spPr>
          <a:xfrm>
            <a:off x="2400300" y="4819802"/>
            <a:ext cx="1933956" cy="495605"/>
          </a:xfrm>
          <a:prstGeom prst="rect">
            <a:avLst/>
          </a:prstGeom>
          <a:solidFill>
            <a:srgbClr val="F4F8FC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12694" y="4921301"/>
            <a:ext cx="11146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ROOM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11526" y="5081321"/>
            <a:ext cx="1519733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63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sync + GPS log</a:t>
            </a:r>
            <a:endParaRPr lang="en-US" sz="863" dirty="0"/>
          </a:p>
        </p:txBody>
      </p:sp>
      <p:sp>
        <p:nvSpPr>
          <p:cNvPr id="23" name="Text 21"/>
          <p:cNvSpPr txBox="1"/>
          <p:nvPr/>
        </p:nvSpPr>
        <p:spPr>
          <a:xfrm>
            <a:off x="333756" y="5486400"/>
            <a:ext cx="4000500" cy="419710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VERIFICATION — RPF acts on prioritised lead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55892" y="1295705"/>
            <a:ext cx="3429000" cy="2381098"/>
          </a:xfrm>
          <a:prstGeom prst="rect">
            <a:avLst/>
          </a:prstGeom>
          <a:solidFill>
            <a:srgbClr val="F7F9FB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7098" y="4019702"/>
            <a:ext cx="3429000" cy="18864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29854" y="1295705"/>
            <a:ext cx="3429000" cy="4610405"/>
          </a:xfrm>
          <a:prstGeom prst="rect">
            <a:avLst/>
          </a:prstGeom>
          <a:solidFill>
            <a:srgbClr val="F4F8FC"/>
          </a:solidFill>
          <a:ln w="12700">
            <a:solidFill>
              <a:srgbClr val="C9D9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353251"/>
            <a:ext cx="12191695" cy="504749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0" descr="gen-dedup-b62470bf72d675f4ba639c46cd01196d.png"/>
          <p:cNvPicPr>
            <a:picLocks noChangeAspect="1"/>
          </p:cNvPicPr>
          <p:nvPr/>
        </p:nvPicPr>
        <p:blipFill>
          <a:blip r:embed="rId3"/>
          <a:srcRect t="-252" b="-252"/>
          <a:stretch/>
        </p:blipFill>
        <p:spPr>
          <a:xfrm>
            <a:off x="9782251" y="0"/>
            <a:ext cx="2247595" cy="1067105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209398" y="190195"/>
            <a:ext cx="1410005" cy="724205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7030A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9398" y="-305"/>
            <a:ext cx="1387594" cy="914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63500" rIns="63500" bIns="63500" rtlCol="0" anchor="ctr"/>
          <a:lstStyle/>
          <a:p>
            <a:pPr algn="ctr"/>
            <a:endParaRPr lang="en-US" sz="1600" b="1" dirty="0">
              <a:solidFill>
                <a:srgbClr val="3B2154"/>
              </a:solidFill>
              <a:latin typeface="Bookman Old Style"/>
              <a:cs typeface="Arial"/>
            </a:endParaRPr>
          </a:p>
          <a:p>
            <a:pPr algn="ctr"/>
            <a:r>
              <a:rPr lang="en-US" sz="1600" b="1">
                <a:solidFill>
                  <a:srgbClr val="3B2154"/>
                </a:solidFill>
                <a:latin typeface="Bookman Old Style"/>
                <a:cs typeface="Arial"/>
              </a:rPr>
              <a:t> BASILEUS</a:t>
            </a:r>
            <a:endParaRPr lang="en-US" sz="1600">
              <a:solidFill>
                <a:srgbClr val="000000"/>
              </a:solidFill>
              <a:latin typeface="Bookman Old Style"/>
              <a:cs typeface="Arial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950" b="1" dirty="0">
              <a:solidFill>
                <a:srgbClr val="3B2154"/>
              </a:solidFill>
              <a:latin typeface="Arial"/>
              <a:cs typeface="Arial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1762049" y="228600"/>
            <a:ext cx="7810805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7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333756" y="1067105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8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CHAIN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333756" y="1695298"/>
            <a:ext cx="4000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25" dirty="0"/>
          </a:p>
        </p:txBody>
      </p:sp>
      <p:sp>
        <p:nvSpPr>
          <p:cNvPr id="34" name="Text 31"/>
          <p:cNvSpPr txBox="1"/>
          <p:nvPr/>
        </p:nvSpPr>
        <p:spPr>
          <a:xfrm>
            <a:off x="333756" y="2438705"/>
            <a:ext cx="4000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25" dirty="0"/>
          </a:p>
        </p:txBody>
      </p:sp>
      <p:sp>
        <p:nvSpPr>
          <p:cNvPr id="35" name="Text 32"/>
          <p:cNvSpPr txBox="1"/>
          <p:nvPr/>
        </p:nvSpPr>
        <p:spPr>
          <a:xfrm>
            <a:off x="333756" y="3181198"/>
            <a:ext cx="4000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25" dirty="0"/>
          </a:p>
        </p:txBody>
      </p:sp>
      <p:sp>
        <p:nvSpPr>
          <p:cNvPr id="36" name="Text 33"/>
          <p:cNvSpPr txBox="1"/>
          <p:nvPr/>
        </p:nvSpPr>
        <p:spPr>
          <a:xfrm>
            <a:off x="333756" y="3924605"/>
            <a:ext cx="4000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25" dirty="0"/>
          </a:p>
        </p:txBody>
      </p:sp>
      <p:sp>
        <p:nvSpPr>
          <p:cNvPr id="37" name="Text 34"/>
          <p:cNvSpPr txBox="1"/>
          <p:nvPr/>
        </p:nvSpPr>
        <p:spPr>
          <a:xfrm>
            <a:off x="333756" y="4629607"/>
            <a:ext cx="4000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25" dirty="0"/>
          </a:p>
        </p:txBody>
      </p:sp>
      <p:sp>
        <p:nvSpPr>
          <p:cNvPr id="38" name="Text 35"/>
          <p:cNvSpPr txBox="1"/>
          <p:nvPr/>
        </p:nvSpPr>
        <p:spPr>
          <a:xfrm>
            <a:off x="4667098" y="106710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8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4819802" y="1410005"/>
            <a:ext cx="31245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38" b="1" kern="0" spc="75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938" dirty="0"/>
          </a:p>
        </p:txBody>
      </p:sp>
      <p:sp>
        <p:nvSpPr>
          <p:cNvPr id="40" name="Text 37"/>
          <p:cNvSpPr txBox="1"/>
          <p:nvPr/>
        </p:nvSpPr>
        <p:spPr>
          <a:xfrm>
            <a:off x="4819802" y="1589675"/>
            <a:ext cx="3124505" cy="1044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8000"/>
              </a:lnSpc>
            </a:pPr>
            <a:r>
              <a:rPr lang="en-US" sz="950" dirty="0">
                <a:solidFill>
                  <a:srgbClr val="1A1A1A"/>
                </a:solidFill>
                <a:latin typeface="Arial"/>
                <a:ea typeface="+mn-lt"/>
                <a:cs typeface="Arial"/>
              </a:rPr>
              <a:t>Android smartphone (compute, display, GPS, camera, battery, alert unit) + Arduino/microcontroller as sensor interface</a:t>
            </a:r>
            <a:r>
              <a:rPr lang="en-US" sz="950" dirty="0">
                <a:solidFill>
                  <a:srgbClr val="1A1A1A"/>
                </a:solidFill>
                <a:latin typeface="Arial"/>
                <a:ea typeface="Calibri"/>
                <a:cs typeface="Arial"/>
              </a:rPr>
              <a:t>,</a:t>
            </a:r>
            <a:r>
              <a:rPr lang="en-US" sz="950" dirty="0">
                <a:solidFill>
                  <a:srgbClr val="1A1A1A"/>
                </a:solidFill>
                <a:latin typeface="Arial"/>
                <a:ea typeface="Arial" pitchFamily="34" charset="-122"/>
                <a:cs typeface="Arial"/>
              </a:rPr>
              <a:t> </a:t>
            </a:r>
            <a:r>
              <a:rPr lang="en-US" sz="950" dirty="0">
                <a:solidFill>
                  <a:srgbClr val="1A1A1A"/>
                </a:solidFill>
                <a:latin typeface="Arial"/>
                <a:ea typeface="+mn-lt"/>
                <a:cs typeface="Arial"/>
              </a:rPr>
              <a:t>Gas/chemical sensor (MQ-series) + optional thermal </a:t>
            </a:r>
            <a:r>
              <a:rPr lang="en-US" sz="950">
                <a:solidFill>
                  <a:srgbClr val="1A1A1A"/>
                </a:solidFill>
                <a:latin typeface="Arial"/>
                <a:ea typeface="+mn-lt"/>
                <a:cs typeface="Arial"/>
              </a:rPr>
              <a:t>sensor (AMG8833).</a:t>
            </a:r>
            <a:endParaRPr lang="en-US" sz="950" dirty="0">
              <a:solidFill>
                <a:srgbClr val="1A1A1A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1" name="Text 38"/>
          <p:cNvSpPr txBox="1"/>
          <p:nvPr/>
        </p:nvSpPr>
        <p:spPr>
          <a:xfrm>
            <a:off x="4808596" y="2540042"/>
            <a:ext cx="31245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38" b="1" kern="0" spc="75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938" dirty="0"/>
          </a:p>
        </p:txBody>
      </p:sp>
      <p:sp>
        <p:nvSpPr>
          <p:cNvPr id="42" name="Text 39"/>
          <p:cNvSpPr txBox="1"/>
          <p:nvPr/>
        </p:nvSpPr>
        <p:spPr>
          <a:xfrm>
            <a:off x="4819802" y="2842977"/>
            <a:ext cx="3124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8000"/>
              </a:lnSpc>
            </a:pPr>
            <a:r>
              <a:rPr lang="en-US" sz="950" dirty="0">
                <a:solidFill>
                  <a:srgbClr val="1A1A1A"/>
                </a:solidFill>
                <a:latin typeface="Arial"/>
                <a:ea typeface="Arial" pitchFamily="34" charset="-122"/>
                <a:cs typeface="Arial"/>
              </a:rPr>
              <a:t>Embedded C/C++ · Python · DSP pipeline · sensor-fusion layer · TensorFlow Lite / ONNX on-device </a:t>
            </a:r>
            <a:r>
              <a:rPr lang="en-US" sz="950">
                <a:solidFill>
                  <a:srgbClr val="1A1A1A"/>
                </a:solidFill>
                <a:latin typeface="Arial"/>
                <a:ea typeface="Arial" pitchFamily="34" charset="-122"/>
                <a:cs typeface="Arial"/>
              </a:rPr>
              <a:t>inference, </a:t>
            </a:r>
            <a:r>
              <a:rPr lang="en-US" sz="950">
                <a:solidFill>
                  <a:srgbClr val="1A1A1A"/>
                </a:solidFill>
                <a:latin typeface="Arial"/>
                <a:ea typeface="+mn-lt"/>
                <a:cs typeface="Arial"/>
              </a:rPr>
              <a:t>future scope</a:t>
            </a:r>
            <a:r>
              <a:rPr lang="en-US" sz="950">
                <a:solidFill>
                  <a:srgbClr val="1A1A1A"/>
                </a:solidFill>
                <a:latin typeface="Arial"/>
                <a:ea typeface="Arial" pitchFamily="34" charset="-122"/>
                <a:cs typeface="Arial"/>
              </a:rPr>
              <a:t> multilingual operator UI · control-room dashboard, </a:t>
            </a:r>
            <a:r>
              <a:rPr lang="en-US" sz="950">
                <a:solidFill>
                  <a:srgbClr val="1A1A1A"/>
                </a:solidFill>
                <a:latin typeface="Arial"/>
                <a:ea typeface="+mn-lt"/>
                <a:cs typeface="Arial"/>
              </a:rPr>
              <a:t>Android app (Kotlin/Java) for sensor data intake, ML inference, alert UI</a:t>
            </a:r>
            <a:endParaRPr lang="en-US" sz="950">
              <a:latin typeface="Arial"/>
              <a:cs typeface="Arial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4667098" y="3791102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8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BASIS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4819802" y="4114800"/>
            <a:ext cx="3124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38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on established, published detection science rather than a single unproven sensor:</a:t>
            </a:r>
            <a:endParaRPr lang="en-US" sz="938" dirty="0"/>
          </a:p>
        </p:txBody>
      </p:sp>
      <p:sp>
        <p:nvSpPr>
          <p:cNvPr id="45" name="Text 42"/>
          <p:cNvSpPr txBox="1"/>
          <p:nvPr/>
        </p:nvSpPr>
        <p:spPr>
          <a:xfrm>
            <a:off x="4819802" y="4481474"/>
            <a:ext cx="3124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 / IR spectroscopy</a:t>
            </a:r>
            <a:r>
              <a:rPr lang="en-US" sz="938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non-contact standoff identification of explosive &amp; narcotic compounds</a:t>
            </a:r>
            <a:endParaRPr lang="en-US" sz="938" dirty="0"/>
          </a:p>
        </p:txBody>
      </p:sp>
      <p:sp>
        <p:nvSpPr>
          <p:cNvPr id="46" name="Text 43"/>
          <p:cNvSpPr txBox="1"/>
          <p:nvPr/>
        </p:nvSpPr>
        <p:spPr>
          <a:xfrm>
            <a:off x="4819802" y="4839005"/>
            <a:ext cx="3124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 vapour sensing (e-nose)</a:t>
            </a:r>
            <a:r>
              <a:rPr lang="en-US" sz="938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MOS/MEMS sensor arrays with ML pattern recognition</a:t>
            </a:r>
            <a:endParaRPr lang="en-US" sz="938" dirty="0"/>
          </a:p>
        </p:txBody>
      </p:sp>
      <p:sp>
        <p:nvSpPr>
          <p:cNvPr id="47" name="Text 44"/>
          <p:cNvSpPr txBox="1"/>
          <p:nvPr/>
        </p:nvSpPr>
        <p:spPr>
          <a:xfrm>
            <a:off x="4819802" y="5195621"/>
            <a:ext cx="3124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&amp; hyperspectral imaging</a:t>
            </a:r>
            <a:r>
              <a:rPr lang="en-US" sz="938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concealment and anomaly cues</a:t>
            </a:r>
            <a:endParaRPr lang="en-US" sz="938" dirty="0"/>
          </a:p>
        </p:txBody>
      </p:sp>
      <p:sp>
        <p:nvSpPr>
          <p:cNvPr id="48" name="Shape 45"/>
          <p:cNvSpPr/>
          <p:nvPr/>
        </p:nvSpPr>
        <p:spPr>
          <a:xfrm>
            <a:off x="4819802" y="5572354"/>
            <a:ext cx="3124505" cy="9144"/>
          </a:xfrm>
          <a:prstGeom prst="rect">
            <a:avLst/>
          </a:prstGeom>
          <a:solidFill>
            <a:srgbClr val="C7D3DE"/>
          </a:solidFill>
          <a:ln w="12700">
            <a:solidFill>
              <a:srgbClr val="C7D3DE">
                <a:alpha val="0"/>
              </a:srgbClr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819802" y="5639105"/>
            <a:ext cx="3124505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0" rIns="63500" bIns="63500" rtlCol="0" anchor="ctr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863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selection is finalised at prototype stage against measured sensitivity; the system reports </a:t>
            </a:r>
            <a:r>
              <a:rPr lang="en-US" sz="863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likelihood</a:t>
            </a:r>
            <a:r>
              <a:rPr lang="en-US" sz="863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forensic confirmation.</a:t>
            </a:r>
            <a:endParaRPr lang="en-US" sz="863" dirty="0"/>
          </a:p>
        </p:txBody>
      </p:sp>
      <p:sp>
        <p:nvSpPr>
          <p:cNvPr id="50" name="Text 47"/>
          <p:cNvSpPr txBox="1"/>
          <p:nvPr/>
        </p:nvSpPr>
        <p:spPr>
          <a:xfrm>
            <a:off x="8429854" y="106710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8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METHODOLOGY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8581644" y="1429207"/>
            <a:ext cx="324612" cy="277063"/>
          </a:xfrm>
          <a:prstGeom prst="rect">
            <a:avLst/>
          </a:prstGeom>
          <a:solidFill>
            <a:srgbClr val="1F497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50800" rIns="0" bIns="5080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13" dirty="0"/>
          </a:p>
        </p:txBody>
      </p:sp>
      <p:sp>
        <p:nvSpPr>
          <p:cNvPr id="52" name="Text 49"/>
          <p:cNvSpPr txBox="1"/>
          <p:nvPr/>
        </p:nvSpPr>
        <p:spPr>
          <a:xfrm>
            <a:off x="8581644" y="2053742"/>
            <a:ext cx="324612" cy="277063"/>
          </a:xfrm>
          <a:prstGeom prst="rect">
            <a:avLst/>
          </a:prstGeom>
          <a:solidFill>
            <a:srgbClr val="1F497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50800" rIns="0" bIns="5080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13" dirty="0"/>
          </a:p>
        </p:txBody>
      </p:sp>
      <p:sp>
        <p:nvSpPr>
          <p:cNvPr id="53" name="Text 50"/>
          <p:cNvSpPr txBox="1"/>
          <p:nvPr/>
        </p:nvSpPr>
        <p:spPr>
          <a:xfrm>
            <a:off x="8581644" y="3015368"/>
            <a:ext cx="324612" cy="277063"/>
          </a:xfrm>
          <a:prstGeom prst="rect">
            <a:avLst/>
          </a:prstGeom>
          <a:solidFill>
            <a:srgbClr val="1F497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50800" rIns="0" bIns="5080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13" dirty="0"/>
          </a:p>
        </p:txBody>
      </p:sp>
      <p:sp>
        <p:nvSpPr>
          <p:cNvPr id="54" name="Text 51"/>
          <p:cNvSpPr txBox="1"/>
          <p:nvPr/>
        </p:nvSpPr>
        <p:spPr>
          <a:xfrm>
            <a:off x="8581644" y="3573583"/>
            <a:ext cx="324612" cy="277063"/>
          </a:xfrm>
          <a:prstGeom prst="rect">
            <a:avLst/>
          </a:prstGeom>
          <a:solidFill>
            <a:srgbClr val="1F497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50800" rIns="0" bIns="5080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13" dirty="0"/>
          </a:p>
        </p:txBody>
      </p:sp>
      <p:sp>
        <p:nvSpPr>
          <p:cNvPr id="55" name="Text 52"/>
          <p:cNvSpPr txBox="1"/>
          <p:nvPr/>
        </p:nvSpPr>
        <p:spPr>
          <a:xfrm>
            <a:off x="8581644" y="4165415"/>
            <a:ext cx="324612" cy="277063"/>
          </a:xfrm>
          <a:prstGeom prst="rect">
            <a:avLst/>
          </a:prstGeom>
          <a:solidFill>
            <a:srgbClr val="1F497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50800" rIns="0" bIns="5080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13" dirty="0"/>
          </a:p>
        </p:txBody>
      </p:sp>
      <p:sp>
        <p:nvSpPr>
          <p:cNvPr id="56" name="Text 53"/>
          <p:cNvSpPr txBox="1"/>
          <p:nvPr/>
        </p:nvSpPr>
        <p:spPr>
          <a:xfrm>
            <a:off x="8581644" y="4880511"/>
            <a:ext cx="324612" cy="277063"/>
          </a:xfrm>
          <a:prstGeom prst="rect">
            <a:avLst/>
          </a:prstGeom>
          <a:solidFill>
            <a:srgbClr val="C000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50800" rIns="0" bIns="5080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13" dirty="0"/>
          </a:p>
        </p:txBody>
      </p:sp>
      <p:sp>
        <p:nvSpPr>
          <p:cNvPr id="57" name="Text 54"/>
          <p:cNvSpPr txBox="1"/>
          <p:nvPr/>
        </p:nvSpPr>
        <p:spPr>
          <a:xfrm>
            <a:off x="9001354" y="1359910"/>
            <a:ext cx="208574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&amp; sensor study</a:t>
            </a:r>
            <a:endParaRPr lang="en-US" sz="1013" dirty="0"/>
          </a:p>
        </p:txBody>
      </p:sp>
      <p:sp>
        <p:nvSpPr>
          <p:cNvPr id="58" name="Text 55"/>
          <p:cNvSpPr txBox="1"/>
          <p:nvPr/>
        </p:nvSpPr>
        <p:spPr>
          <a:xfrm>
            <a:off x="9001354" y="1612087"/>
            <a:ext cx="24387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3F5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RPF operational profile, climate &amp; vibration envelope, candidate sensor benchmarking</a:t>
            </a:r>
            <a:endParaRPr lang="en-US" sz="1013" dirty="0"/>
          </a:p>
        </p:txBody>
      </p:sp>
      <p:sp>
        <p:nvSpPr>
          <p:cNvPr id="59" name="Text 56"/>
          <p:cNvSpPr txBox="1"/>
          <p:nvPr/>
        </p:nvSpPr>
        <p:spPr>
          <a:xfrm>
            <a:off x="9001354" y="2063801"/>
            <a:ext cx="185897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Handheld prototype build</a:t>
            </a:r>
            <a:endParaRPr lang="en-US" sz="1013" dirty="0"/>
          </a:p>
        </p:txBody>
      </p:sp>
      <p:sp>
        <p:nvSpPr>
          <p:cNvPr id="60" name="Text 57"/>
          <p:cNvSpPr txBox="1"/>
          <p:nvPr/>
        </p:nvSpPr>
        <p:spPr>
          <a:xfrm>
            <a:off x="9001355" y="2416831"/>
            <a:ext cx="2124939" cy="89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000">
                <a:solidFill>
                  <a:srgbClr val="3F5B75"/>
                </a:solidFill>
                <a:ea typeface="+mn-lt"/>
                <a:cs typeface="+mn-lt"/>
              </a:rPr>
              <a:t>Handheld prototype build: gas sensor + Arduino interface board + Android smartphone (app) on compact chassis</a:t>
            </a:r>
            <a:endParaRPr lang="en-US"/>
          </a:p>
        </p:txBody>
      </p:sp>
      <p:sp>
        <p:nvSpPr>
          <p:cNvPr id="61" name="Text 58"/>
          <p:cNvSpPr txBox="1"/>
          <p:nvPr/>
        </p:nvSpPr>
        <p:spPr>
          <a:xfrm>
            <a:off x="9001354" y="2924574"/>
            <a:ext cx="249448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&amp; signature library</a:t>
            </a:r>
            <a:endParaRPr lang="en-US" sz="1013" dirty="0"/>
          </a:p>
        </p:txBody>
      </p:sp>
      <p:sp>
        <p:nvSpPr>
          <p:cNvPr id="62" name="Text 59"/>
          <p:cNvSpPr txBox="1"/>
          <p:nvPr/>
        </p:nvSpPr>
        <p:spPr>
          <a:xfrm>
            <a:off x="9001354" y="3176751"/>
            <a:ext cx="22384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3F5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controlled-lab samples with institutional supervision; railway ambient baselines</a:t>
            </a:r>
            <a:endParaRPr lang="en-US" sz="1013" dirty="0"/>
          </a:p>
        </p:txBody>
      </p:sp>
      <p:sp>
        <p:nvSpPr>
          <p:cNvPr id="63" name="Text 60"/>
          <p:cNvSpPr txBox="1"/>
          <p:nvPr/>
        </p:nvSpPr>
        <p:spPr>
          <a:xfrm>
            <a:off x="9001354" y="3594847"/>
            <a:ext cx="23692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&amp; fusion development</a:t>
            </a:r>
            <a:endParaRPr lang="en-US" sz="1013" dirty="0"/>
          </a:p>
        </p:txBody>
      </p:sp>
      <p:sp>
        <p:nvSpPr>
          <p:cNvPr id="64" name="Text 61"/>
          <p:cNvSpPr txBox="1"/>
          <p:nvPr/>
        </p:nvSpPr>
        <p:spPr>
          <a:xfrm>
            <a:off x="8978942" y="3767669"/>
            <a:ext cx="25246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3F5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engineering, classifier training, false-alarm tuning, threshold calibration</a:t>
            </a:r>
            <a:endParaRPr lang="en-US" sz="1013" dirty="0"/>
          </a:p>
        </p:txBody>
      </p:sp>
      <p:sp>
        <p:nvSpPr>
          <p:cNvPr id="65" name="Text 62"/>
          <p:cNvSpPr txBox="1"/>
          <p:nvPr/>
        </p:nvSpPr>
        <p:spPr>
          <a:xfrm>
            <a:off x="8945325" y="4220297"/>
            <a:ext cx="16834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testing</a:t>
            </a:r>
            <a:endParaRPr lang="en-US" sz="1013" dirty="0"/>
          </a:p>
        </p:txBody>
      </p:sp>
      <p:sp>
        <p:nvSpPr>
          <p:cNvPr id="66" name="Text 63"/>
          <p:cNvSpPr txBox="1"/>
          <p:nvPr/>
        </p:nvSpPr>
        <p:spPr>
          <a:xfrm>
            <a:off x="8945325" y="4437942"/>
            <a:ext cx="23527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3F5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dust, humidity, low-light, vibration; battery endurance; alert latency</a:t>
            </a:r>
            <a:endParaRPr lang="en-US" sz="1013" dirty="0"/>
          </a:p>
        </p:txBody>
      </p:sp>
      <p:sp>
        <p:nvSpPr>
          <p:cNvPr id="67" name="Text 64"/>
          <p:cNvSpPr txBox="1"/>
          <p:nvPr/>
        </p:nvSpPr>
        <p:spPr>
          <a:xfrm>
            <a:off x="9046178" y="4946599"/>
            <a:ext cx="244876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validation &amp; quadruped port</a:t>
            </a:r>
            <a:endParaRPr lang="en-US" sz="1013" dirty="0"/>
          </a:p>
        </p:txBody>
      </p:sp>
      <p:sp>
        <p:nvSpPr>
          <p:cNvPr id="68" name="Text 65"/>
          <p:cNvSpPr txBox="1"/>
          <p:nvPr/>
        </p:nvSpPr>
        <p:spPr>
          <a:xfrm>
            <a:off x="9001354" y="5153039"/>
            <a:ext cx="26481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3F5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station/yard trial with RPF; payload migration to the mobile platform</a:t>
            </a:r>
            <a:endParaRPr lang="en-US" sz="1013" dirty="0"/>
          </a:p>
        </p:txBody>
      </p:sp>
      <p:sp>
        <p:nvSpPr>
          <p:cNvPr id="70" name="Text 67"/>
          <p:cNvSpPr txBox="1"/>
          <p:nvPr/>
        </p:nvSpPr>
        <p:spPr>
          <a:xfrm>
            <a:off x="10668305" y="6495898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756" y="1295705"/>
            <a:ext cx="5381244" cy="1867205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333756" y="1295705"/>
            <a:ext cx="47549" cy="1867205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3756" y="3524098"/>
            <a:ext cx="5333695" cy="1447495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756" y="5143500"/>
            <a:ext cx="5333695" cy="990295"/>
          </a:xfrm>
          <a:prstGeom prst="rect">
            <a:avLst/>
          </a:prstGeom>
          <a:solidFill>
            <a:srgbClr val="1F49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353251"/>
            <a:ext cx="12191695" cy="504749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b62470bf72d675f4ba639c46cd01196d.png"/>
          <p:cNvPicPr>
            <a:picLocks noChangeAspect="1"/>
          </p:cNvPicPr>
          <p:nvPr/>
        </p:nvPicPr>
        <p:blipFill>
          <a:blip r:embed="rId3"/>
          <a:srcRect t="-252" b="-252"/>
          <a:stretch/>
        </p:blipFill>
        <p:spPr>
          <a:xfrm>
            <a:off x="9782251" y="0"/>
            <a:ext cx="2247595" cy="10671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9398" y="190195"/>
            <a:ext cx="1410005" cy="724205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7030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9398" y="190195"/>
            <a:ext cx="1410005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63500" rIns="63500" bIns="63500" rtlCol="0" anchor="ctr"/>
          <a:lstStyle/>
          <a:p>
            <a:pPr algn="ctr"/>
            <a:r>
              <a:rPr lang="en-US" sz="1600" b="1">
                <a:solidFill>
                  <a:srgbClr val="3B2154"/>
                </a:solidFill>
                <a:latin typeface="Bookman Old Style"/>
                <a:cs typeface="Arial" pitchFamily="34" charset="-120"/>
              </a:rPr>
              <a:t>BASILEUS</a:t>
            </a:r>
            <a:endParaRPr lang="en-US" sz="1600">
              <a:solidFill>
                <a:srgbClr val="000000"/>
              </a:solidFill>
              <a:latin typeface="Bookman Old Style"/>
              <a:cs typeface="Arial" pitchFamily="34" charset="-12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762049" y="228600"/>
            <a:ext cx="7810805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7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33756" y="1067105"/>
            <a:ext cx="5334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8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BUILDABLE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3154" y="1410005"/>
            <a:ext cx="497250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component base.</a:t>
            </a: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subsystem — sensor modules, edge SoCs, LiDAR, radio — is commercially available off-the-shelf; we integrate rather than invent from zero.</a:t>
            </a:r>
            <a:endParaRPr lang="en-US" sz="1013" dirty="0"/>
          </a:p>
        </p:txBody>
      </p:sp>
      <p:sp>
        <p:nvSpPr>
          <p:cNvPr id="13" name="Text 10"/>
          <p:cNvSpPr txBox="1"/>
          <p:nvPr/>
        </p:nvSpPr>
        <p:spPr>
          <a:xfrm>
            <a:off x="543154" y="1998878"/>
            <a:ext cx="497250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 exists in India.</a:t>
            </a: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DRDO-HEMRL with IISc Bangalore has already fielded standoff explosive detection (RaIDer-X), confirming the technical direction is viable in the Indian context.</a:t>
            </a:r>
            <a:endParaRPr lang="en-US" sz="1013" dirty="0"/>
          </a:p>
        </p:txBody>
      </p:sp>
      <p:sp>
        <p:nvSpPr>
          <p:cNvPr id="14" name="Text 11"/>
          <p:cNvSpPr txBox="1"/>
          <p:nvPr/>
        </p:nvSpPr>
        <p:spPr>
          <a:xfrm>
            <a:off x="543154" y="2588666"/>
            <a:ext cx="49725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de-risking.</a:t>
            </a: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Handheld V1 is achievable within a hackathon-to-pilot horizon; the quadruped reuses the same validated sensing payload.</a:t>
            </a:r>
            <a:endParaRPr lang="en-US" sz="1013" dirty="0"/>
          </a:p>
        </p:txBody>
      </p:sp>
      <p:sp>
        <p:nvSpPr>
          <p:cNvPr id="15" name="Text 12"/>
          <p:cNvSpPr txBox="1"/>
          <p:nvPr/>
        </p:nvSpPr>
        <p:spPr>
          <a:xfrm>
            <a:off x="333756" y="3295498"/>
            <a:ext cx="5334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8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COST-EFFECTIVE, SCALABLE DESIGN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04749" y="3638398"/>
            <a:ext cx="24195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COTS hardware, no custom silicon</a:t>
            </a:r>
            <a:endParaRPr lang="en-US" sz="975" dirty="0"/>
          </a:p>
        </p:txBody>
      </p:sp>
      <p:sp>
        <p:nvSpPr>
          <p:cNvPr id="17" name="Text 14"/>
          <p:cNvSpPr txBox="1"/>
          <p:nvPr/>
        </p:nvSpPr>
        <p:spPr>
          <a:xfrm>
            <a:off x="3076956" y="3638398"/>
            <a:ext cx="24195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Modular sensor bays — upgrade one, not all</a:t>
            </a:r>
            <a:endParaRPr lang="en-US" sz="975" dirty="0"/>
          </a:p>
        </p:txBody>
      </p:sp>
      <p:sp>
        <p:nvSpPr>
          <p:cNvPr id="18" name="Text 15"/>
          <p:cNvSpPr txBox="1"/>
          <p:nvPr/>
        </p:nvSpPr>
        <p:spPr>
          <a:xfrm>
            <a:off x="504749" y="4017874"/>
            <a:ext cx="2419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Open-source software stack</a:t>
            </a:r>
            <a:endParaRPr lang="en-US" sz="975" dirty="0"/>
          </a:p>
        </p:txBody>
      </p:sp>
      <p:sp>
        <p:nvSpPr>
          <p:cNvPr id="19" name="Text 16"/>
          <p:cNvSpPr txBox="1"/>
          <p:nvPr/>
        </p:nvSpPr>
        <p:spPr>
          <a:xfrm>
            <a:off x="3076956" y="4017874"/>
            <a:ext cx="287944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Common payload for both form factors</a:t>
            </a:r>
            <a:endParaRPr lang="en-US" sz="975" dirty="0"/>
          </a:p>
        </p:txBody>
      </p:sp>
      <p:sp>
        <p:nvSpPr>
          <p:cNvPr id="20" name="Text 17"/>
          <p:cNvSpPr txBox="1"/>
          <p:nvPr/>
        </p:nvSpPr>
        <p:spPr>
          <a:xfrm>
            <a:off x="504749" y="4231843"/>
            <a:ext cx="24195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Field-replaceable battery &amp; sensor cartridge</a:t>
            </a:r>
            <a:endParaRPr lang="en-US" sz="975" dirty="0"/>
          </a:p>
        </p:txBody>
      </p:sp>
      <p:sp>
        <p:nvSpPr>
          <p:cNvPr id="21" name="Text 18"/>
          <p:cNvSpPr txBox="1"/>
          <p:nvPr/>
        </p:nvSpPr>
        <p:spPr>
          <a:xfrm>
            <a:off x="3076956" y="4231843"/>
            <a:ext cx="24195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Low-maintenance, no consumable reagents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504749" y="4639666"/>
            <a:ext cx="4990795" cy="9144"/>
          </a:xfrm>
          <a:prstGeom prst="rect">
            <a:avLst/>
          </a:prstGeom>
          <a:solidFill>
            <a:srgbClr val="C7D3DE"/>
          </a:solidFill>
          <a:ln w="12700">
            <a:solidFill>
              <a:srgbClr val="C7D3DE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4749" y="4715561"/>
            <a:ext cx="499171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0" rIns="63500" bIns="63500" rtlCol="0" anchor="ctr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75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handheld units deployed per station cost far less than one fixed scanner — screening moves to wherever the threat is.</a:t>
            </a:r>
            <a:endParaRPr lang="en-US" sz="975" dirty="0"/>
          </a:p>
        </p:txBody>
      </p:sp>
      <p:sp>
        <p:nvSpPr>
          <p:cNvPr id="24" name="Text 21"/>
          <p:cNvSpPr txBox="1"/>
          <p:nvPr/>
        </p:nvSpPr>
        <p:spPr>
          <a:xfrm>
            <a:off x="5952744" y="1067105"/>
            <a:ext cx="5906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8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 STRATEGY</a:t>
            </a:r>
            <a:endParaRPr lang="en-US" sz="10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240095"/>
              </p:ext>
            </p:extLst>
          </p:nvPr>
        </p:nvGraphicFramePr>
        <p:xfrm>
          <a:off x="5952744" y="1295705"/>
          <a:ext cx="5905196" cy="3639312"/>
        </p:xfrm>
        <a:graphic>
          <a:graphicData uri="http://schemas.openxmlformats.org/drawingml/2006/table">
            <a:tbl>
              <a:tblPr/>
              <a:tblGrid>
                <a:gridCol w="224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9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 / RISK</a:t>
                      </a:r>
                      <a:endParaRPr lang="en-US" sz="101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MITIGATION</a:t>
                      </a:r>
                      <a:endParaRPr lang="en-US" sz="101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13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alarms</a:t>
                      </a:r>
                      <a:r>
                        <a:rPr lang="en-US" sz="1013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in crowded, chemically noisy stations</a:t>
                      </a:r>
                      <a:endParaRPr lang="en-US" sz="1200" dirty="0"/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13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Multi-sensor cross-verification + threshold tuning; tiered output instead of binary yes/no</a:t>
                      </a:r>
                      <a:endParaRPr lang="en-US" sz="101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13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Harsh environment</a:t>
                      </a:r>
                      <a:r>
                        <a:rPr lang="en-US" sz="1013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— dust, humidity, heat, vibration</a:t>
                      </a:r>
                      <a:endParaRPr lang="en-US" sz="1200" dirty="0"/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13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IP-rated sealed enclosure, shock mounting, sensor purge cycle, ambient baseline recalibration</a:t>
                      </a:r>
                      <a:endParaRPr lang="en-US" sz="101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13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/ no connectivity</a:t>
                      </a:r>
                      <a:r>
                        <a:rPr lang="en-US" sz="1013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in tunnels and yards</a:t>
                      </a:r>
                      <a:endParaRPr lang="en-US" sz="1200" dirty="0"/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13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on-device edge inference; offline encrypted logging with sync on network restore</a:t>
                      </a:r>
                      <a:endParaRPr lang="en-US" sz="101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Smartphone battery + external </a:t>
                      </a:r>
                      <a:r>
                        <a:rPr lang="en-US" sz="1000" b="1" dirty="0" err="1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powerbank</a:t>
                      </a: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endParaRPr lang="en-US" dirty="0"/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Duty-cycled sensing, low-power SoC, 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docking charge at posts</a:t>
                      </a:r>
                      <a:endParaRPr lang="en-US" sz="1000" dirty="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13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 skill variance</a:t>
                      </a:r>
                      <a:r>
                        <a:rPr lang="en-US" sz="1013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across RPF personnel</a:t>
                      </a:r>
                      <a:endParaRPr lang="en-US" sz="1200" dirty="0"/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13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Single-button operation, multilingual UI, colour-coded alerts, minimal training load</a:t>
                      </a:r>
                      <a:endParaRPr lang="en-US" sz="101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13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&amp; sample-handling limits</a:t>
                      </a:r>
                      <a:r>
                        <a:rPr lang="en-US" sz="1013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on narcotics/explosives data</a:t>
                      </a:r>
                      <a:endParaRPr lang="en-US" sz="1200" dirty="0"/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13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supervision for all sampling; surrogate &amp; simulant compounds for training data</a:t>
                      </a:r>
                      <a:endParaRPr lang="en-US" sz="101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13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Over-reliance on automation</a:t>
                      </a:r>
                      <a:endParaRPr lang="en-US" sz="1200" dirty="0"/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13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Human-in-the-loop by design — the device advises, RPF decides and confirms</a:t>
                      </a:r>
                      <a:endParaRPr lang="en-US" sz="101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66751" marB="66751">
                    <a:lnL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543154" y="5296205"/>
            <a:ext cx="49725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38" b="1" kern="0" spc="105" dirty="0">
                <a:solidFill>
                  <a:srgbClr val="A8C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 IN ONE LINE</a:t>
            </a:r>
            <a:endParaRPr lang="en-US" sz="938" dirty="0"/>
          </a:p>
        </p:txBody>
      </p:sp>
      <p:sp>
        <p:nvSpPr>
          <p:cNvPr id="27" name="Text 23"/>
          <p:cNvSpPr txBox="1"/>
          <p:nvPr/>
        </p:nvSpPr>
        <p:spPr>
          <a:xfrm>
            <a:off x="543154" y="5519318"/>
            <a:ext cx="49725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38"/>
              </a:lnSpc>
              <a:buNone/>
            </a:pPr>
            <a:r>
              <a:rPr lang="en-US" sz="1313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ruggedised, low-maintenance assistive screening tool that RPF can carry today — and scale to robotic patrol tomorrow.</a:t>
            </a:r>
            <a:endParaRPr lang="en-US" sz="1313" dirty="0"/>
          </a:p>
        </p:txBody>
      </p:sp>
      <p:sp>
        <p:nvSpPr>
          <p:cNvPr id="29" name="Text 25"/>
          <p:cNvSpPr txBox="1"/>
          <p:nvPr/>
        </p:nvSpPr>
        <p:spPr>
          <a:xfrm>
            <a:off x="10668305" y="6495898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756" y="1295705"/>
            <a:ext cx="11525098" cy="495605"/>
          </a:xfrm>
          <a:prstGeom prst="rect">
            <a:avLst/>
          </a:prstGeom>
          <a:solidFill>
            <a:srgbClr val="F4F8FC"/>
          </a:solidFill>
          <a:ln w="12700">
            <a:solidFill>
              <a:srgbClr val="C9D9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48056" y="1466698"/>
            <a:ext cx="19723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Protection Force</a:t>
            </a:r>
            <a:endParaRPr lang="en-US" sz="1088" dirty="0"/>
          </a:p>
        </p:txBody>
      </p:sp>
      <p:sp>
        <p:nvSpPr>
          <p:cNvPr id="4" name="Text 2"/>
          <p:cNvSpPr txBox="1"/>
          <p:nvPr/>
        </p:nvSpPr>
        <p:spPr>
          <a:xfrm>
            <a:off x="2307946" y="1466698"/>
            <a:ext cx="5669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9F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088" dirty="0"/>
          </a:p>
        </p:txBody>
      </p:sp>
      <p:sp>
        <p:nvSpPr>
          <p:cNvPr id="5" name="Text 3"/>
          <p:cNvSpPr txBox="1"/>
          <p:nvPr/>
        </p:nvSpPr>
        <p:spPr>
          <a:xfrm>
            <a:off x="2555748" y="1466698"/>
            <a:ext cx="249448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passengers &amp; station staff</a:t>
            </a:r>
            <a:endParaRPr lang="en-US" sz="1088" dirty="0"/>
          </a:p>
        </p:txBody>
      </p:sp>
      <p:sp>
        <p:nvSpPr>
          <p:cNvPr id="6" name="Text 4"/>
          <p:cNvSpPr txBox="1"/>
          <p:nvPr/>
        </p:nvSpPr>
        <p:spPr>
          <a:xfrm>
            <a:off x="4860950" y="1466698"/>
            <a:ext cx="5669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9F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088" dirty="0"/>
          </a:p>
        </p:txBody>
      </p:sp>
      <p:sp>
        <p:nvSpPr>
          <p:cNvPr id="7" name="Text 5"/>
          <p:cNvSpPr txBox="1"/>
          <p:nvPr/>
        </p:nvSpPr>
        <p:spPr>
          <a:xfrm>
            <a:off x="5109667" y="1466698"/>
            <a:ext cx="204094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 &amp; cargo operations</a:t>
            </a:r>
            <a:endParaRPr lang="en-US" sz="1088" dirty="0"/>
          </a:p>
        </p:txBody>
      </p:sp>
      <p:sp>
        <p:nvSpPr>
          <p:cNvPr id="8" name="Text 6"/>
          <p:cNvSpPr txBox="1"/>
          <p:nvPr/>
        </p:nvSpPr>
        <p:spPr>
          <a:xfrm>
            <a:off x="7030822" y="1466698"/>
            <a:ext cx="5669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9F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088" dirty="0"/>
          </a:p>
        </p:txBody>
      </p:sp>
      <p:sp>
        <p:nvSpPr>
          <p:cNvPr id="9" name="Text 7"/>
          <p:cNvSpPr txBox="1"/>
          <p:nvPr/>
        </p:nvSpPr>
        <p:spPr>
          <a:xfrm>
            <a:off x="7279538" y="1466698"/>
            <a:ext cx="23244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NCB / anti-narcotics agencies</a:t>
            </a:r>
            <a:endParaRPr lang="en-US" sz="1088" dirty="0"/>
          </a:p>
        </p:txBody>
      </p:sp>
      <p:sp>
        <p:nvSpPr>
          <p:cNvPr id="10" name="Text 8"/>
          <p:cNvSpPr txBox="1"/>
          <p:nvPr/>
        </p:nvSpPr>
        <p:spPr>
          <a:xfrm>
            <a:off x="9438437" y="1466698"/>
            <a:ext cx="5669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9F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088" dirty="0"/>
          </a:p>
        </p:txBody>
      </p:sp>
      <p:sp>
        <p:nvSpPr>
          <p:cNvPr id="11" name="Text 9"/>
          <p:cNvSpPr txBox="1"/>
          <p:nvPr/>
        </p:nvSpPr>
        <p:spPr>
          <a:xfrm>
            <a:off x="9687154" y="1466698"/>
            <a:ext cx="24487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123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infrastructure &amp; assets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33756" y="1943100"/>
            <a:ext cx="2210105" cy="203819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" y="1943100"/>
            <a:ext cx="2210105" cy="4754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7246" y="1943100"/>
            <a:ext cx="2210105" cy="203819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7246" y="1943100"/>
            <a:ext cx="2210105" cy="47549"/>
          </a:xfrm>
          <a:prstGeom prst="rect">
            <a:avLst/>
          </a:prstGeom>
          <a:solidFill>
            <a:srgbClr val="E36C0A"/>
          </a:solidFill>
          <a:ln w="12700">
            <a:solidFill>
              <a:srgbClr val="E36C0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1651" y="1943100"/>
            <a:ext cx="2210105" cy="203819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1651" y="1943100"/>
            <a:ext cx="2210105" cy="47549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6056" y="1943100"/>
            <a:ext cx="2210105" cy="203819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6056" y="1943100"/>
            <a:ext cx="2210105" cy="47549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29546" y="1943100"/>
            <a:ext cx="2229307" cy="203819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29546" y="1943100"/>
            <a:ext cx="2229307" cy="47549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" y="4381805"/>
            <a:ext cx="5762549" cy="1200607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" y="4381805"/>
            <a:ext cx="47549" cy="1200607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6500" y="4381805"/>
            <a:ext cx="5572354" cy="12006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" y="5734202"/>
            <a:ext cx="11525098" cy="495605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353251"/>
            <a:ext cx="12191695" cy="504749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0" descr="gen-dedup-b62470bf72d675f4ba639c46cd01196d.png"/>
          <p:cNvPicPr>
            <a:picLocks noChangeAspect="1"/>
          </p:cNvPicPr>
          <p:nvPr/>
        </p:nvPicPr>
        <p:blipFill>
          <a:blip r:embed="rId3"/>
          <a:srcRect t="-252" b="-252"/>
          <a:stretch/>
        </p:blipFill>
        <p:spPr>
          <a:xfrm>
            <a:off x="9782251" y="0"/>
            <a:ext cx="2247595" cy="1067105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209398" y="190195"/>
            <a:ext cx="1410005" cy="724205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7030A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09398" y="190195"/>
            <a:ext cx="1410005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63500" rIns="63500" bIns="63500" rtlCol="0" anchor="ctr"/>
          <a:lstStyle/>
          <a:p>
            <a:pPr algn="ctr"/>
            <a:r>
              <a:rPr lang="en-US" sz="1600" b="1">
                <a:solidFill>
                  <a:srgbClr val="3B2154"/>
                </a:solidFill>
                <a:latin typeface="Bookman Old Style"/>
                <a:cs typeface="Arial" pitchFamily="34" charset="-120"/>
              </a:rPr>
              <a:t>BASILEUS</a:t>
            </a:r>
            <a:endParaRPr lang="en-US" sz="1600">
              <a:solidFill>
                <a:srgbClr val="000000"/>
              </a:solidFill>
              <a:latin typeface="Bookman Old Style"/>
              <a:cs typeface="Arial" pitchFamily="34" charset="-120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1762049" y="228600"/>
            <a:ext cx="7810805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7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333756" y="1067105"/>
            <a:ext cx="115260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8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485546" y="2115007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85546" y="2403958"/>
            <a:ext cx="1905610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narcotic and explosive signatures are surfaced </a:t>
            </a:r>
            <a:r>
              <a:rPr lang="en-US" sz="101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point of contact</a:t>
            </a: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instead of after the fact — closing the gap that currently exists at entry points, platforms, coaches and parcel counters.</a:t>
            </a:r>
            <a:endParaRPr lang="en-US" sz="1013" dirty="0"/>
          </a:p>
        </p:txBody>
      </p:sp>
      <p:sp>
        <p:nvSpPr>
          <p:cNvPr id="34" name="Text 31"/>
          <p:cNvSpPr txBox="1"/>
          <p:nvPr/>
        </p:nvSpPr>
        <p:spPr>
          <a:xfrm>
            <a:off x="2809951" y="2115007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B85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2809951" y="2403958"/>
            <a:ext cx="19056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Non-intrusive, standoff-first screening plus the quadruped for underframe, tunnel and yard duty </a:t>
            </a:r>
            <a:r>
              <a:rPr lang="en-US" sz="101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personnel away from</a:t>
            </a: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most hazardous inspection positions.</a:t>
            </a:r>
            <a:endParaRPr lang="en-US" sz="1013" dirty="0"/>
          </a:p>
        </p:txBody>
      </p:sp>
      <p:sp>
        <p:nvSpPr>
          <p:cNvPr id="36" name="Text 33"/>
          <p:cNvSpPr txBox="1"/>
          <p:nvPr/>
        </p:nvSpPr>
        <p:spPr>
          <a:xfrm>
            <a:off x="5134356" y="2115007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134356" y="2403958"/>
            <a:ext cx="19056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 RPF manpower is </a:t>
            </a:r>
            <a:r>
              <a:rPr lang="en-US" sz="101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by risk, not by guesswork</a:t>
            </a: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Tiered alerts turn blanket manual searching into prioritised inspection, reducing passenger delay and friction.</a:t>
            </a:r>
            <a:endParaRPr lang="en-US" sz="1013" dirty="0"/>
          </a:p>
        </p:txBody>
      </p:sp>
      <p:sp>
        <p:nvSpPr>
          <p:cNvPr id="38" name="Text 35"/>
          <p:cNvSpPr txBox="1"/>
          <p:nvPr/>
        </p:nvSpPr>
        <p:spPr>
          <a:xfrm>
            <a:off x="7457846" y="2115007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5B2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457846" y="2403958"/>
            <a:ext cx="19056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low-cost modular unit can be issued </a:t>
            </a:r>
            <a:r>
              <a:rPr lang="en-US" sz="101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by station</a:t>
            </a: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zones, with the same signature library and dashboard — no fixed civil works or platform redesign required.</a:t>
            </a:r>
            <a:endParaRPr lang="en-US" sz="1013" dirty="0"/>
          </a:p>
        </p:txBody>
      </p:sp>
      <p:sp>
        <p:nvSpPr>
          <p:cNvPr id="40" name="Text 37"/>
          <p:cNvSpPr txBox="1"/>
          <p:nvPr/>
        </p:nvSpPr>
        <p:spPr>
          <a:xfrm>
            <a:off x="9782251" y="2115007"/>
            <a:ext cx="19248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1F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9782251" y="2403958"/>
            <a:ext cx="1924812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supports RPF's anti-narcotics mandate and rail infrastructure protection, and builds an </a:t>
            </a:r>
            <a:r>
              <a:rPr lang="en-US" sz="1013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indigenous, self-reliant</a:t>
            </a: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detection capability aligned with Atmanirbhar Bharat.</a:t>
            </a:r>
            <a:endParaRPr lang="en-US" sz="1013" dirty="0"/>
          </a:p>
        </p:txBody>
      </p:sp>
      <p:sp>
        <p:nvSpPr>
          <p:cNvPr id="42" name="Text 39"/>
          <p:cNvSpPr txBox="1"/>
          <p:nvPr/>
        </p:nvSpPr>
        <p:spPr>
          <a:xfrm>
            <a:off x="333756" y="41532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8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BENEFIT — AN EVIDENCE TRAIL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43154" y="4515307"/>
            <a:ext cx="535381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scan is logged with </a:t>
            </a: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timestamp, GPS location, operator ID and sensor reading</a:t>
            </a: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stored encrypted on-device and synced to the control room. Over time this produces something Indian Railways does not have today: a structured, tamper-evident dataset of </a:t>
            </a: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and when</a:t>
            </a: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screening happened and what was found — usable for trafficking-route analytics, deployment planning and post-incident review.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6286500" y="4153205"/>
            <a:ext cx="55723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8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ROADMAP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6439205" y="4515307"/>
            <a:ext cx="495605" cy="219456"/>
          </a:xfrm>
          <a:prstGeom prst="rect">
            <a:avLst/>
          </a:prstGeom>
          <a:solidFill>
            <a:srgbClr val="A8C8E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38100" rIns="0" bIns="3810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D2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7041112" y="4527643"/>
            <a:ext cx="4665951" cy="354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>
                <a:solidFill>
                  <a:srgbClr val="1A1A1A"/>
                </a:solidFill>
                <a:latin typeface="Arial"/>
                <a:ea typeface="Arial" pitchFamily="34" charset="-122"/>
                <a:cs typeface="Arial"/>
              </a:rPr>
              <a:t>Handheld prototype</a:t>
            </a:r>
            <a:r>
              <a:rPr lang="en-US" sz="900">
                <a:solidFill>
                  <a:srgbClr val="1A1A1A"/>
                </a:solidFill>
                <a:latin typeface="Arial"/>
                <a:ea typeface="Arial" pitchFamily="34" charset="-122"/>
                <a:cs typeface="Arial"/>
              </a:rPr>
              <a:t> — </a:t>
            </a:r>
            <a:r>
              <a:rPr lang="en-US" sz="900">
                <a:solidFill>
                  <a:srgbClr val="1A1A1A"/>
                </a:solidFill>
                <a:ea typeface="+mn-lt"/>
                <a:cs typeface="+mn-lt"/>
              </a:rPr>
              <a:t>V1: Handheld prototype — smartphone + Arduino sensor unit,</a:t>
            </a:r>
            <a:endParaRPr lang="en-US" sz="938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900">
                <a:solidFill>
                  <a:srgbClr val="1A1A1A"/>
                </a:solidFill>
                <a:ea typeface="+mn-lt"/>
                <a:cs typeface="+mn-lt"/>
              </a:rPr>
              <a:t> on-phone AI inference, local alert</a:t>
            </a:r>
            <a:endParaRPr lang="en-US" sz="900">
              <a:ea typeface="+mn-lt"/>
              <a:cs typeface="+mn-lt"/>
            </a:endParaRPr>
          </a:p>
        </p:txBody>
      </p:sp>
      <p:sp>
        <p:nvSpPr>
          <p:cNvPr id="47" name="Text 44"/>
          <p:cNvSpPr txBox="1"/>
          <p:nvPr/>
        </p:nvSpPr>
        <p:spPr>
          <a:xfrm>
            <a:off x="6439205" y="4781398"/>
            <a:ext cx="495605" cy="219456"/>
          </a:xfrm>
          <a:prstGeom prst="rect">
            <a:avLst/>
          </a:prstGeom>
          <a:solidFill>
            <a:srgbClr val="6FA3C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38100" rIns="0" bIns="3810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8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7029907" y="4817059"/>
            <a:ext cx="53629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Quadruped platform</a:t>
            </a:r>
            <a:r>
              <a:rPr lang="en-US" sz="938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same payload, autonomous patrol &amp; underframe inspection</a:t>
            </a:r>
            <a:endParaRPr lang="en-US" sz="938" dirty="0"/>
          </a:p>
        </p:txBody>
      </p:sp>
      <p:sp>
        <p:nvSpPr>
          <p:cNvPr id="49" name="Text 46"/>
          <p:cNvSpPr txBox="1"/>
          <p:nvPr/>
        </p:nvSpPr>
        <p:spPr>
          <a:xfrm>
            <a:off x="6439205" y="5048402"/>
            <a:ext cx="495605" cy="219456"/>
          </a:xfrm>
          <a:prstGeom prst="rect">
            <a:avLst/>
          </a:prstGeom>
          <a:solidFill>
            <a:srgbClr val="2C7BB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38100" rIns="0" bIns="3810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7029907" y="5083150"/>
            <a:ext cx="533003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signature library</a:t>
            </a:r>
            <a:r>
              <a:rPr lang="en-US" sz="938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larger dataset, higher-accuracy fusion model</a:t>
            </a:r>
            <a:endParaRPr lang="en-US" sz="938" dirty="0"/>
          </a:p>
        </p:txBody>
      </p:sp>
      <p:sp>
        <p:nvSpPr>
          <p:cNvPr id="51" name="Text 48"/>
          <p:cNvSpPr txBox="1"/>
          <p:nvPr/>
        </p:nvSpPr>
        <p:spPr>
          <a:xfrm>
            <a:off x="6439205" y="5315407"/>
            <a:ext cx="495605" cy="219456"/>
          </a:xfrm>
          <a:prstGeom prst="rect">
            <a:avLst/>
          </a:prstGeom>
          <a:solidFill>
            <a:srgbClr val="1F497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38100" rIns="0" bIns="3810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7029907" y="5350154"/>
            <a:ext cx="53629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pilot deployment</a:t>
            </a:r>
            <a:r>
              <a:rPr lang="en-US" sz="938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zone-level rollout with control-room integration</a:t>
            </a:r>
            <a:endParaRPr lang="en-US" sz="938" dirty="0"/>
          </a:p>
        </p:txBody>
      </p:sp>
      <p:sp>
        <p:nvSpPr>
          <p:cNvPr id="53" name="Text 50"/>
          <p:cNvSpPr txBox="1"/>
          <p:nvPr/>
        </p:nvSpPr>
        <p:spPr>
          <a:xfrm>
            <a:off x="523951" y="5857646"/>
            <a:ext cx="111447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 second of early detection can mean a safer response.”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10668305" y="6495898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756" y="1295705"/>
            <a:ext cx="3666744" cy="238109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333756" y="1295705"/>
            <a:ext cx="47549" cy="238109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3756" y="3829507"/>
            <a:ext cx="3619195" cy="2000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90695" y="1295705"/>
            <a:ext cx="7667244" cy="4533595"/>
          </a:xfrm>
          <a:prstGeom prst="rect">
            <a:avLst/>
          </a:prstGeom>
          <a:solidFill>
            <a:srgbClr val="F7F9FB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" y="5962802"/>
            <a:ext cx="11525098" cy="304495"/>
          </a:xfrm>
          <a:prstGeom prst="rect">
            <a:avLst/>
          </a:prstGeom>
          <a:solidFill>
            <a:srgbClr val="1F49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353251"/>
            <a:ext cx="12191695" cy="504749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b62470bf72d675f4ba639c46cd01196d.png"/>
          <p:cNvPicPr>
            <a:picLocks noChangeAspect="1"/>
          </p:cNvPicPr>
          <p:nvPr/>
        </p:nvPicPr>
        <p:blipFill>
          <a:blip r:embed="rId3"/>
          <a:srcRect t="-252" b="-252"/>
          <a:stretch/>
        </p:blipFill>
        <p:spPr>
          <a:xfrm>
            <a:off x="9782251" y="0"/>
            <a:ext cx="2247595" cy="10671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9398" y="190195"/>
            <a:ext cx="1410005" cy="724205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7030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9398" y="190195"/>
            <a:ext cx="1410005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63500" rIns="63500" bIns="63500" rtlCol="0" anchor="ctr"/>
          <a:lstStyle/>
          <a:p>
            <a:pPr algn="ctr"/>
            <a:r>
              <a:rPr lang="en-US" sz="1600" b="1">
                <a:solidFill>
                  <a:srgbClr val="3B2154"/>
                </a:solidFill>
                <a:latin typeface="Bookman Old Style"/>
                <a:cs typeface="Arial" pitchFamily="34" charset="-120"/>
              </a:rPr>
              <a:t>BASILEUS</a:t>
            </a:r>
            <a:endParaRPr lang="en-US" sz="1600">
              <a:solidFill>
                <a:srgbClr val="000000"/>
              </a:solidFill>
              <a:latin typeface="Bookman Old Style"/>
              <a:cs typeface="Arial" pitchFamily="34" charset="-12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762049" y="228600"/>
            <a:ext cx="7810805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7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333756" y="1067105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8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AREAS STUDIED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3154" y="1410005"/>
            <a:ext cx="34326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Standoff explosive-detection technologies</a:t>
            </a:r>
            <a:endParaRPr lang="en-US" sz="1013" dirty="0"/>
          </a:p>
        </p:txBody>
      </p:sp>
      <p:sp>
        <p:nvSpPr>
          <p:cNvPr id="14" name="Text 11"/>
          <p:cNvSpPr txBox="1"/>
          <p:nvPr/>
        </p:nvSpPr>
        <p:spPr>
          <a:xfrm>
            <a:off x="543154" y="1659636"/>
            <a:ext cx="32580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Raman &amp; vibrational spectroscopy for trace compounds</a:t>
            </a:r>
            <a:endParaRPr lang="en-US" sz="1013" dirty="0"/>
          </a:p>
        </p:txBody>
      </p:sp>
      <p:sp>
        <p:nvSpPr>
          <p:cNvPr id="15" name="Text 12"/>
          <p:cNvSpPr txBox="1"/>
          <p:nvPr/>
        </p:nvSpPr>
        <p:spPr>
          <a:xfrm>
            <a:off x="543154" y="2083003"/>
            <a:ext cx="386059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Chemical vapour sensing / electronic-nose arrays</a:t>
            </a:r>
            <a:endParaRPr lang="en-US" sz="1013" dirty="0"/>
          </a:p>
        </p:txBody>
      </p:sp>
      <p:sp>
        <p:nvSpPr>
          <p:cNvPr id="16" name="Text 13"/>
          <p:cNvSpPr txBox="1"/>
          <p:nvPr/>
        </p:nvSpPr>
        <p:spPr>
          <a:xfrm>
            <a:off x="543154" y="2332634"/>
            <a:ext cx="32580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Multi-sensor fusion &amp; ML classification</a:t>
            </a:r>
            <a:endParaRPr lang="en-US" sz="1013" dirty="0"/>
          </a:p>
        </p:txBody>
      </p:sp>
      <p:sp>
        <p:nvSpPr>
          <p:cNvPr id="17" name="Text 14"/>
          <p:cNvSpPr txBox="1"/>
          <p:nvPr/>
        </p:nvSpPr>
        <p:spPr>
          <a:xfrm>
            <a:off x="543154" y="2582266"/>
            <a:ext cx="32580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Edge AI on embedded platforms</a:t>
            </a:r>
            <a:endParaRPr lang="en-US" sz="1013" dirty="0"/>
          </a:p>
        </p:txBody>
      </p:sp>
      <p:sp>
        <p:nvSpPr>
          <p:cNvPr id="18" name="Text 15"/>
          <p:cNvSpPr txBox="1"/>
          <p:nvPr/>
        </p:nvSpPr>
        <p:spPr>
          <a:xfrm>
            <a:off x="543154" y="2831897"/>
            <a:ext cx="350946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Quadruped robotics for inspection &amp; patrol</a:t>
            </a:r>
            <a:endParaRPr lang="en-US" sz="1013" dirty="0"/>
          </a:p>
        </p:txBody>
      </p:sp>
      <p:sp>
        <p:nvSpPr>
          <p:cNvPr id="19" name="Text 16"/>
          <p:cNvSpPr txBox="1"/>
          <p:nvPr/>
        </p:nvSpPr>
        <p:spPr>
          <a:xfrm>
            <a:off x="543154" y="3081528"/>
            <a:ext cx="34326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Railway security operations &amp; RPF mandate</a:t>
            </a:r>
            <a:endParaRPr lang="en-US" sz="1013" dirty="0"/>
          </a:p>
        </p:txBody>
      </p:sp>
      <p:sp>
        <p:nvSpPr>
          <p:cNvPr id="20" name="Text 17"/>
          <p:cNvSpPr txBox="1"/>
          <p:nvPr/>
        </p:nvSpPr>
        <p:spPr>
          <a:xfrm>
            <a:off x="543154" y="3331159"/>
            <a:ext cx="358627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Selection standards for detection equipment</a:t>
            </a:r>
            <a:endParaRPr lang="en-US" sz="1013" dirty="0"/>
          </a:p>
        </p:txBody>
      </p:sp>
      <p:sp>
        <p:nvSpPr>
          <p:cNvPr id="21" name="Text 18"/>
          <p:cNvSpPr txBox="1"/>
          <p:nvPr/>
        </p:nvSpPr>
        <p:spPr>
          <a:xfrm>
            <a:off x="504749" y="3943807"/>
            <a:ext cx="32772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38" b="1" kern="0" spc="75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LITERATURE TOLD US</a:t>
            </a:r>
            <a:endParaRPr lang="en-US" sz="938" dirty="0"/>
          </a:p>
        </p:txBody>
      </p:sp>
      <p:sp>
        <p:nvSpPr>
          <p:cNvPr id="22" name="Text 19"/>
          <p:cNvSpPr txBox="1"/>
          <p:nvPr/>
        </p:nvSpPr>
        <p:spPr>
          <a:xfrm>
            <a:off x="504749" y="4169664"/>
            <a:ext cx="32772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38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sensing modality reliably covers both narcotics and explosives across field conditions. Reviews of commercially available portable detectors and of e-nose systems converge on the same conclusion: </a:t>
            </a:r>
            <a:r>
              <a:rPr lang="en-US" sz="93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fusion plus machine-learning classification</a:t>
            </a:r>
            <a:r>
              <a:rPr lang="en-US" sz="938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outperforms any one channel.</a:t>
            </a:r>
            <a:endParaRPr lang="en-US" sz="938" dirty="0"/>
          </a:p>
        </p:txBody>
      </p:sp>
      <p:sp>
        <p:nvSpPr>
          <p:cNvPr id="23" name="Text 20"/>
          <p:cNvSpPr txBox="1"/>
          <p:nvPr/>
        </p:nvSpPr>
        <p:spPr>
          <a:xfrm>
            <a:off x="504749" y="5033772"/>
            <a:ext cx="327721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938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finding is the core justification for RAIL-SHIELD's multi-sensor, edge-AI architecture — and for positioning it as an </a:t>
            </a:r>
            <a:r>
              <a:rPr lang="en-US" sz="93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assistive screening</a:t>
            </a:r>
            <a:r>
              <a:rPr lang="en-US" sz="938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 with human confirmation, not an autonomous forensic verdict.</a:t>
            </a:r>
            <a:endParaRPr lang="en-US" sz="938" dirty="0"/>
          </a:p>
        </p:txBody>
      </p:sp>
      <p:sp>
        <p:nvSpPr>
          <p:cNvPr id="24" name="Text 21"/>
          <p:cNvSpPr txBox="1"/>
          <p:nvPr/>
        </p:nvSpPr>
        <p:spPr>
          <a:xfrm>
            <a:off x="4190695" y="1067105"/>
            <a:ext cx="76681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98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362602" y="1429207"/>
            <a:ext cx="2478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975" dirty="0"/>
          </a:p>
        </p:txBody>
      </p:sp>
      <p:sp>
        <p:nvSpPr>
          <p:cNvPr id="26" name="Text 23"/>
          <p:cNvSpPr txBox="1"/>
          <p:nvPr/>
        </p:nvSpPr>
        <p:spPr>
          <a:xfrm>
            <a:off x="4686300" y="1429207"/>
            <a:ext cx="70015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Information Bureau, Ministry of Defence (2020).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“RaIDer-X, a new explosive detection device, unveiled at NWED-2020, Pune.” Co-developed by DRDO–HEMRL Pune and IISc Bangalore; detects explosives at standoff distance, including bulk explosives in concealed condition. </a:t>
            </a:r>
            <a:r>
              <a:rPr lang="en-US" sz="975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pib.gov.in — Release ID 1604799</a:t>
            </a:r>
            <a:endParaRPr lang="en-US" sz="975" dirty="0"/>
          </a:p>
        </p:txBody>
      </p:sp>
      <p:sp>
        <p:nvSpPr>
          <p:cNvPr id="27" name="Text 24"/>
          <p:cNvSpPr txBox="1"/>
          <p:nvPr/>
        </p:nvSpPr>
        <p:spPr>
          <a:xfrm>
            <a:off x="4362602" y="2014423"/>
            <a:ext cx="2478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975" dirty="0"/>
          </a:p>
        </p:txBody>
      </p:sp>
      <p:sp>
        <p:nvSpPr>
          <p:cNvPr id="28" name="Text 25"/>
          <p:cNvSpPr txBox="1"/>
          <p:nvPr/>
        </p:nvSpPr>
        <p:spPr>
          <a:xfrm>
            <a:off x="4686300" y="2014423"/>
            <a:ext cx="7001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Narcotics Control Bureau, Ministry of Home Affairs.</a:t>
            </a:r>
            <a:r>
              <a:rPr lang="en-US" sz="975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Report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series — national drug trafficking scenario, seizure statistics and trafficking-route analysis. </a:t>
            </a:r>
            <a:r>
              <a:rPr lang="en-US" sz="975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narcoticsindia.nic.in / narcoordindia.gov.in</a:t>
            </a:r>
            <a:endParaRPr lang="en-US" sz="975" dirty="0"/>
          </a:p>
        </p:txBody>
      </p:sp>
      <p:sp>
        <p:nvSpPr>
          <p:cNvPr id="29" name="Text 26"/>
          <p:cNvSpPr txBox="1"/>
          <p:nvPr/>
        </p:nvSpPr>
        <p:spPr>
          <a:xfrm>
            <a:off x="4362602" y="2435962"/>
            <a:ext cx="2478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975" dirty="0"/>
          </a:p>
        </p:txBody>
      </p:sp>
      <p:sp>
        <p:nvSpPr>
          <p:cNvPr id="30" name="Text 27"/>
          <p:cNvSpPr txBox="1"/>
          <p:nvPr/>
        </p:nvSpPr>
        <p:spPr>
          <a:xfrm>
            <a:off x="4686300" y="2435962"/>
            <a:ext cx="7001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Explosives Detectors — Current Status and Development Prospects.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Peer-reviewed review critically evaluating ~80 commercially available mobile explosive-identification detectors. </a:t>
            </a:r>
            <a:r>
              <a:rPr lang="en-US" sz="975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 Central, PMC12526599</a:t>
            </a:r>
            <a:endParaRPr lang="en-US" sz="975" dirty="0"/>
          </a:p>
        </p:txBody>
      </p:sp>
      <p:sp>
        <p:nvSpPr>
          <p:cNvPr id="31" name="Text 28"/>
          <p:cNvSpPr txBox="1"/>
          <p:nvPr/>
        </p:nvSpPr>
        <p:spPr>
          <a:xfrm>
            <a:off x="4362602" y="2858414"/>
            <a:ext cx="2478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975" dirty="0"/>
          </a:p>
        </p:txBody>
      </p:sp>
      <p:sp>
        <p:nvSpPr>
          <p:cNvPr id="32" name="Text 29"/>
          <p:cNvSpPr txBox="1"/>
          <p:nvPr/>
        </p:nvSpPr>
        <p:spPr>
          <a:xfrm>
            <a:off x="4686300" y="2858414"/>
            <a:ext cx="7001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Pacheco-Londoño, L. C. et al. (2009).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“Vibrational spectroscopy standoff detection of explosives.” Standoff infrared and Raman detection systems designed from commercial instrumentation and tested for remote detection. </a:t>
            </a:r>
            <a:r>
              <a:rPr lang="en-US" sz="975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 19633965</a:t>
            </a:r>
            <a:endParaRPr lang="en-US" sz="975" dirty="0"/>
          </a:p>
        </p:txBody>
      </p:sp>
      <p:sp>
        <p:nvSpPr>
          <p:cNvPr id="33" name="Text 30"/>
          <p:cNvSpPr txBox="1"/>
          <p:nvPr/>
        </p:nvSpPr>
        <p:spPr>
          <a:xfrm>
            <a:off x="4362602" y="3280867"/>
            <a:ext cx="2478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975" dirty="0"/>
          </a:p>
        </p:txBody>
      </p:sp>
      <p:sp>
        <p:nvSpPr>
          <p:cNvPr id="34" name="Text 31"/>
          <p:cNvSpPr txBox="1"/>
          <p:nvPr/>
        </p:nvSpPr>
        <p:spPr>
          <a:xfrm>
            <a:off x="4686300" y="3280867"/>
            <a:ext cx="7001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Kuehn, M. et al. (2023).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“Evaluation of handheld Raman spectrometers.” Assesses selectivity and sensitivity of handheld Raman instruments for explosive detection. </a:t>
            </a:r>
            <a:r>
              <a:rPr lang="en-US" sz="975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Science International / ScienceDirect</a:t>
            </a:r>
            <a:endParaRPr lang="en-US" sz="975" dirty="0"/>
          </a:p>
        </p:txBody>
      </p:sp>
      <p:sp>
        <p:nvSpPr>
          <p:cNvPr id="35" name="Text 32"/>
          <p:cNvSpPr txBox="1"/>
          <p:nvPr/>
        </p:nvSpPr>
        <p:spPr>
          <a:xfrm>
            <a:off x="4362602" y="3702406"/>
            <a:ext cx="2478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975" dirty="0"/>
          </a:p>
        </p:txBody>
      </p:sp>
      <p:sp>
        <p:nvSpPr>
          <p:cNvPr id="36" name="Text 33"/>
          <p:cNvSpPr txBox="1"/>
          <p:nvPr/>
        </p:nvSpPr>
        <p:spPr>
          <a:xfrm>
            <a:off x="4686300" y="3702406"/>
            <a:ext cx="7001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Ye, Z. et al. (2021).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“Recent Progress in Smart Electronic Nose Technologies Enabled with Machine Learning Methods.” Survey of advanced ML methods applied to e-nose chemical sensing. </a:t>
            </a:r>
            <a:r>
              <a:rPr lang="en-US" sz="975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 Central, PMC8619411</a:t>
            </a:r>
            <a:endParaRPr lang="en-US" sz="975" dirty="0"/>
          </a:p>
        </p:txBody>
      </p:sp>
      <p:sp>
        <p:nvSpPr>
          <p:cNvPr id="37" name="Text 34"/>
          <p:cNvSpPr txBox="1"/>
          <p:nvPr/>
        </p:nvSpPr>
        <p:spPr>
          <a:xfrm>
            <a:off x="4362602" y="4124858"/>
            <a:ext cx="2478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975" dirty="0"/>
          </a:p>
        </p:txBody>
      </p:sp>
      <p:sp>
        <p:nvSpPr>
          <p:cNvPr id="38" name="Text 35"/>
          <p:cNvSpPr txBox="1"/>
          <p:nvPr/>
        </p:nvSpPr>
        <p:spPr>
          <a:xfrm>
            <a:off x="4686300" y="4124858"/>
            <a:ext cx="7001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Rabehi, A. et al. (2024).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“Advancements and Prospects of Electronic Nose in Various Applications.” Systematic review of electronic-nose technology including security and prohibited-substance detection. </a:t>
            </a:r>
            <a:r>
              <a:rPr lang="en-US" sz="975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Sciences (MDPI), 14(11):4506</a:t>
            </a:r>
            <a:endParaRPr lang="en-US" sz="975" dirty="0"/>
          </a:p>
        </p:txBody>
      </p:sp>
      <p:sp>
        <p:nvSpPr>
          <p:cNvPr id="39" name="Text 36"/>
          <p:cNvSpPr txBox="1"/>
          <p:nvPr/>
        </p:nvSpPr>
        <p:spPr>
          <a:xfrm>
            <a:off x="4362602" y="4546397"/>
            <a:ext cx="2478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endParaRPr lang="en-US" sz="975" dirty="0"/>
          </a:p>
        </p:txBody>
      </p:sp>
      <p:sp>
        <p:nvSpPr>
          <p:cNvPr id="40" name="Text 37"/>
          <p:cNvSpPr txBox="1"/>
          <p:nvPr/>
        </p:nvSpPr>
        <p:spPr>
          <a:xfrm>
            <a:off x="4686300" y="4546397"/>
            <a:ext cx="7001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Halder, S. et al. (2023).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“Construction inspection &amp; monitoring with quadruped robots.” Human–robot teaming approach for quadruped inspection in field environments. </a:t>
            </a:r>
            <a:r>
              <a:rPr lang="en-US" sz="975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of Building Engineering / ScienceDirect</a:t>
            </a:r>
            <a:endParaRPr lang="en-US" sz="975" dirty="0"/>
          </a:p>
        </p:txBody>
      </p:sp>
      <p:sp>
        <p:nvSpPr>
          <p:cNvPr id="41" name="Text 38"/>
          <p:cNvSpPr txBox="1"/>
          <p:nvPr/>
        </p:nvSpPr>
        <p:spPr>
          <a:xfrm>
            <a:off x="4362602" y="4968850"/>
            <a:ext cx="2478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</a:t>
            </a:r>
            <a:endParaRPr lang="en-US" sz="975" dirty="0"/>
          </a:p>
        </p:txBody>
      </p:sp>
      <p:sp>
        <p:nvSpPr>
          <p:cNvPr id="42" name="Text 39"/>
          <p:cNvSpPr txBox="1"/>
          <p:nvPr/>
        </p:nvSpPr>
        <p:spPr>
          <a:xfrm>
            <a:off x="4686300" y="4968850"/>
            <a:ext cx="7001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Institute of Justice (US DOJ).</a:t>
            </a:r>
            <a:r>
              <a:rPr lang="en-US" sz="975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for the Selection of Commercial Explosives Detection Systems for Law Enforcement Applications.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Selection criteria for detection techniques and equipment by application. </a:t>
            </a:r>
            <a:r>
              <a:rPr lang="en-US" sz="975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nij.ojp.gov</a:t>
            </a:r>
            <a:endParaRPr lang="en-US" sz="975" dirty="0"/>
          </a:p>
        </p:txBody>
      </p:sp>
      <p:sp>
        <p:nvSpPr>
          <p:cNvPr id="43" name="Text 40"/>
          <p:cNvSpPr txBox="1"/>
          <p:nvPr/>
        </p:nvSpPr>
        <p:spPr>
          <a:xfrm>
            <a:off x="4362602" y="5391302"/>
            <a:ext cx="2478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</a:t>
            </a:r>
            <a:endParaRPr lang="en-US" sz="975" dirty="0"/>
          </a:p>
        </p:txBody>
      </p:sp>
      <p:sp>
        <p:nvSpPr>
          <p:cNvPr id="44" name="Text 41"/>
          <p:cNvSpPr txBox="1"/>
          <p:nvPr/>
        </p:nvSpPr>
        <p:spPr>
          <a:xfrm>
            <a:off x="4686300" y="5391302"/>
            <a:ext cx="7001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Bureau of Police Research &amp; Development (BPR&amp;D), MHA.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Modernisation Division mandate — scientific research, development, trial and testing of technologies for law-enforcement use. </a:t>
            </a:r>
            <a:r>
              <a:rPr lang="en-US" sz="975" dirty="0">
                <a:solidFill>
                  <a:srgbClr val="5A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bprd.nic.in</a:t>
            </a:r>
            <a:endParaRPr lang="en-US" sz="975" dirty="0"/>
          </a:p>
        </p:txBody>
      </p:sp>
      <p:sp>
        <p:nvSpPr>
          <p:cNvPr id="45" name="Text 42"/>
          <p:cNvSpPr txBox="1"/>
          <p:nvPr/>
        </p:nvSpPr>
        <p:spPr>
          <a:xfrm>
            <a:off x="523951" y="6019495"/>
            <a:ext cx="11144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75" b="1" kern="0" spc="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RAIL-SHIELD — “Detect Before Danger. Protect Every Journey.”</a:t>
            </a:r>
            <a:endParaRPr lang="en-US" sz="1275" dirty="0"/>
          </a:p>
        </p:txBody>
      </p:sp>
      <p:sp>
        <p:nvSpPr>
          <p:cNvPr id="47" name="Text 44"/>
          <p:cNvSpPr txBox="1"/>
          <p:nvPr/>
        </p:nvSpPr>
        <p:spPr>
          <a:xfrm>
            <a:off x="10668305" y="6495898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120</cp:revision>
  <dcterms:created xsi:type="dcterms:W3CDTF">2026-08-28T10:20:39Z</dcterms:created>
  <dcterms:modified xsi:type="dcterms:W3CDTF">2026-08-28T11:02:20Z</dcterms:modified>
</cp:coreProperties>
</file>